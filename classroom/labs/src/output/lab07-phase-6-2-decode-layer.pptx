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A8CC">
              <a:alpha val="85000"/>
            </a:srgbClr>
          </a:solidFill>
          <a:ln/>
        </p:spPr>
      </p:sp>
      <p:sp>
        <p:nvSpPr>
          <p:cNvPr id="3" name="Shape 1"/>
          <p:cNvSpPr/>
          <p:nvPr/>
        </p:nvSpPr>
        <p:spPr>
          <a:xfrm>
            <a:off x="0" y="502920"/>
            <a:ext cx="9144000" cy="457200"/>
          </a:xfrm>
          <a:prstGeom prst="rect">
            <a:avLst/>
          </a:prstGeom>
          <a:solidFill>
            <a:srgbClr val="00A8CC">
              <a:alpha val="65000"/>
            </a:srgbClr>
          </a:solidFill>
          <a:ln/>
        </p:spPr>
      </p:sp>
      <p:sp>
        <p:nvSpPr>
          <p:cNvPr id="4" name="Shape 2"/>
          <p:cNvSpPr/>
          <p:nvPr/>
        </p:nvSpPr>
        <p:spPr>
          <a:xfrm>
            <a:off x="0" y="1005840"/>
            <a:ext cx="9144000" cy="457200"/>
          </a:xfrm>
          <a:prstGeom prst="rect">
            <a:avLst/>
          </a:prstGeom>
          <a:solidFill>
            <a:srgbClr val="00A8CC">
              <a:alpha val="45000"/>
            </a:srgbClr>
          </a:solidFill>
          <a:ln/>
        </p:spPr>
      </p:sp>
      <p:sp>
        <p:nvSpPr>
          <p:cNvPr id="5" name="Shape 3"/>
          <p:cNvSpPr/>
          <p:nvPr/>
        </p:nvSpPr>
        <p:spPr>
          <a:xfrm>
            <a:off x="0" y="1508760"/>
            <a:ext cx="9144000" cy="457200"/>
          </a:xfrm>
          <a:prstGeom prst="rect">
            <a:avLst/>
          </a:prstGeom>
          <a:solidFill>
            <a:srgbClr val="00A8CC">
              <a:alpha val="28000"/>
            </a:srgbClr>
          </a:solidFill>
          <a:ln/>
        </p:spPr>
      </p:sp>
      <p:sp>
        <p:nvSpPr>
          <p:cNvPr id="6" name="Shape 4"/>
          <p:cNvSpPr/>
          <p:nvPr/>
        </p:nvSpPr>
        <p:spPr>
          <a:xfrm>
            <a:off x="0" y="2011680"/>
            <a:ext cx="9144000" cy="457200"/>
          </a:xfrm>
          <a:prstGeom prst="rect">
            <a:avLst/>
          </a:prstGeom>
          <a:solidFill>
            <a:srgbClr val="00A8CC">
              <a:alpha val="14000"/>
            </a:srgbClr>
          </a:solidFill>
          <a:ln/>
        </p:spPr>
      </p:sp>
      <p:sp>
        <p:nvSpPr>
          <p:cNvPr id="7" name="Text 5"/>
          <p:cNvSpPr/>
          <p:nvPr/>
        </p:nvSpPr>
        <p:spPr>
          <a:xfrm>
            <a:off x="548640" y="2331720"/>
            <a:ext cx="8046720" cy="457200"/>
          </a:xfrm>
          <a:prstGeom prst="rect">
            <a:avLst/>
          </a:prstGeom>
          <a:noFill/>
          <a:ln/>
        </p:spPr>
        <p:txBody>
          <a:bodyPr wrap="square" lIns="0" tIns="0" rIns="0" bIns="0" rtlCol="0" anchor="ctr"/>
          <a:lstStyle/>
          <a:p>
            <a:pPr indent="0" marL="0">
              <a:buNone/>
            </a:pPr>
            <a:r>
              <a:rPr lang="en-US" sz="1600" b="1" spc="300" kern="0" dirty="0">
                <a:solidFill>
                  <a:srgbClr val="F4A300"/>
                </a:solidFill>
                <a:latin typeface="Calibri" pitchFamily="34" charset="0"/>
                <a:ea typeface="Calibri" pitchFamily="34" charset="-122"/>
                <a:cs typeface="Calibri" pitchFamily="34" charset="-120"/>
              </a:rPr>
              <a:t>LAB 7</a:t>
            </a:r>
            <a:endParaRPr lang="en-US" sz="1600" dirty="0"/>
          </a:p>
        </p:txBody>
      </p:sp>
      <p:sp>
        <p:nvSpPr>
          <p:cNvPr id="8" name="Text 6"/>
          <p:cNvSpPr/>
          <p:nvPr/>
        </p:nvSpPr>
        <p:spPr>
          <a:xfrm>
            <a:off x="548640" y="2743200"/>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Phase 6.2 — Decode Layer</a:t>
            </a:r>
            <a:endParaRPr lang="en-US" sz="4000" dirty="0"/>
          </a:p>
        </p:txBody>
      </p:sp>
      <p:sp>
        <p:nvSpPr>
          <p:cNvPr id="9" name="Text 7"/>
          <p:cNvSpPr/>
          <p:nvPr/>
        </p:nvSpPr>
        <p:spPr>
          <a:xfrm>
            <a:off x="548640" y="3840480"/>
            <a:ext cx="8046720" cy="640080"/>
          </a:xfrm>
          <a:prstGeom prst="rect">
            <a:avLst/>
          </a:prstGeom>
          <a:noFill/>
          <a:ln/>
        </p:spPr>
        <p:txBody>
          <a:bodyPr wrap="square" lIns="0" tIns="0" rIns="0" bIns="0" rtlCol="0" anchor="ctr"/>
          <a:lstStyle/>
          <a:p>
            <a:pPr indent="0" marL="0">
              <a:buNone/>
            </a:pPr>
            <a:r>
              <a:rPr lang="en-US" sz="1800" i="1" dirty="0">
                <a:solidFill>
                  <a:srgbClr val="00A8CC"/>
                </a:solidFill>
                <a:latin typeface="Calibri" pitchFamily="34" charset="0"/>
                <a:ea typeface="Calibri" pitchFamily="34" charset="-122"/>
                <a:cs typeface="Calibri" pitchFamily="34" charset="-120"/>
              </a:rPr>
              <a:t>GNU Radio, direwolf, multimon-ng, and the venv boundary</a:t>
            </a:r>
            <a:endParaRPr lang="en-US" sz="1800" dirty="0"/>
          </a:p>
        </p:txBody>
      </p:sp>
      <p:sp>
        <p:nvSpPr>
          <p:cNvPr id="10" name="Text 8"/>
          <p:cNvSpPr/>
          <p:nvPr/>
        </p:nvSpPr>
        <p:spPr>
          <a:xfrm>
            <a:off x="548640" y="4709160"/>
            <a:ext cx="8046720" cy="320040"/>
          </a:xfrm>
          <a:prstGeom prst="rect">
            <a:avLst/>
          </a:prstGeom>
          <a:noFill/>
          <a:ln/>
        </p:spPr>
        <p:txBody>
          <a:bodyPr wrap="square" lIns="0" tIns="0" rIns="0" bIns="0" rtlCol="0" anchor="ctr"/>
          <a:lstStyle/>
          <a:p>
            <a:pPr indent="0" marL="0">
              <a:buNone/>
            </a:pPr>
            <a:r>
              <a:rPr lang="en-US" sz="1100" dirty="0">
                <a:solidFill>
                  <a:srgbClr val="5C7080"/>
                </a:solidFill>
                <a:latin typeface="Calibri" pitchFamily="34" charset="0"/>
                <a:ea typeface="Calibri" pitchFamily="34" charset="-122"/>
                <a:cs typeface="Calibri" pitchFamily="34" charset="-120"/>
              </a:rPr>
              <a:t>Sovereign SIGINT — College Lab Series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SESSION OVERVIEW</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Learning Objectives</a:t>
            </a:r>
            <a:endParaRPr lang="en-US" sz="2800" dirty="0"/>
          </a:p>
        </p:txBody>
      </p:sp>
      <p:sp>
        <p:nvSpPr>
          <p:cNvPr id="4" name="Shape 2"/>
          <p:cNvSpPr/>
          <p:nvPr/>
        </p:nvSpPr>
        <p:spPr>
          <a:xfrm>
            <a:off x="548640" y="1844802"/>
            <a:ext cx="402336" cy="402336"/>
          </a:xfrm>
          <a:prstGeom prst="ellipse">
            <a:avLst/>
          </a:prstGeom>
          <a:solidFill>
            <a:srgbClr val="0B1929"/>
          </a:solidFill>
          <a:ln/>
        </p:spPr>
      </p:sp>
      <p:sp>
        <p:nvSpPr>
          <p:cNvPr id="5" name="Text 3"/>
          <p:cNvSpPr/>
          <p:nvPr/>
        </p:nvSpPr>
        <p:spPr>
          <a:xfrm>
            <a:off x="548640" y="1844802"/>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143000" y="1554480"/>
            <a:ext cx="7452360" cy="982980"/>
          </a:xfrm>
          <a:prstGeom prst="roundRect">
            <a:avLst>
              <a:gd name="adj" fmla="val 5581"/>
            </a:avLst>
          </a:prstGeom>
          <a:solidFill>
            <a:srgbClr val="FFFFFF"/>
          </a:solidFill>
          <a:ln/>
          <a:effectLst>
            <a:outerShdw sx="100000" sy="100000" kx="0" ky="0" algn="bl" rotWithShape="0" blurRad="63500" dist="25400" dir="5400000">
              <a:srgbClr val="000000">
                <a:alpha val="8000"/>
              </a:srgbClr>
            </a:outerShdw>
          </a:effectLst>
        </p:spPr>
      </p:sp>
      <p:sp>
        <p:nvSpPr>
          <p:cNvPr id="7" name="Text 5"/>
          <p:cNvSpPr/>
          <p:nvPr/>
        </p:nvSpPr>
        <p:spPr>
          <a:xfrm>
            <a:off x="1371600" y="1554480"/>
            <a:ext cx="6949440" cy="982980"/>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Install GNU Radio and its SDR abstraction layer (gr-osmosdr)</a:t>
            </a:r>
            <a:endParaRPr lang="en-US" sz="1500" dirty="0"/>
          </a:p>
        </p:txBody>
      </p:sp>
      <p:sp>
        <p:nvSpPr>
          <p:cNvPr id="8" name="Shape 6"/>
          <p:cNvSpPr/>
          <p:nvPr/>
        </p:nvSpPr>
        <p:spPr>
          <a:xfrm>
            <a:off x="548640" y="2964942"/>
            <a:ext cx="402336" cy="402336"/>
          </a:xfrm>
          <a:prstGeom prst="ellipse">
            <a:avLst/>
          </a:prstGeom>
          <a:solidFill>
            <a:srgbClr val="0B1929"/>
          </a:solidFill>
          <a:ln/>
        </p:spPr>
      </p:sp>
      <p:sp>
        <p:nvSpPr>
          <p:cNvPr id="9" name="Text 7"/>
          <p:cNvSpPr/>
          <p:nvPr/>
        </p:nvSpPr>
        <p:spPr>
          <a:xfrm>
            <a:off x="548640" y="2964942"/>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2</a:t>
            </a:r>
            <a:endParaRPr lang="en-US" sz="1600" dirty="0"/>
          </a:p>
        </p:txBody>
      </p:sp>
      <p:sp>
        <p:nvSpPr>
          <p:cNvPr id="10" name="Shape 8"/>
          <p:cNvSpPr/>
          <p:nvPr/>
        </p:nvSpPr>
        <p:spPr>
          <a:xfrm>
            <a:off x="1143000" y="2674620"/>
            <a:ext cx="7452360" cy="982980"/>
          </a:xfrm>
          <a:prstGeom prst="roundRect">
            <a:avLst>
              <a:gd name="adj" fmla="val 5581"/>
            </a:avLst>
          </a:prstGeom>
          <a:solidFill>
            <a:srgbClr val="FFFFFF"/>
          </a:solidFill>
          <a:ln/>
          <a:effectLst>
            <a:outerShdw sx="100000" sy="100000" kx="0" ky="0" algn="bl" rotWithShape="0" blurRad="63500" dist="25400" dir="5400000">
              <a:srgbClr val="000000">
                <a:alpha val="8000"/>
              </a:srgbClr>
            </a:outerShdw>
          </a:effectLst>
        </p:spPr>
      </p:sp>
      <p:sp>
        <p:nvSpPr>
          <p:cNvPr id="11" name="Text 9"/>
          <p:cNvSpPr/>
          <p:nvPr/>
        </p:nvSpPr>
        <p:spPr>
          <a:xfrm>
            <a:off x="1371600" y="2674620"/>
            <a:ext cx="6949440" cy="982980"/>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Understand why GNU Radio runs under system Python, not either project venv</a:t>
            </a:r>
            <a:endParaRPr lang="en-US" sz="1500" dirty="0"/>
          </a:p>
        </p:txBody>
      </p:sp>
      <p:sp>
        <p:nvSpPr>
          <p:cNvPr id="12" name="Shape 10"/>
          <p:cNvSpPr/>
          <p:nvPr/>
        </p:nvSpPr>
        <p:spPr>
          <a:xfrm>
            <a:off x="548640" y="4085082"/>
            <a:ext cx="402336" cy="402336"/>
          </a:xfrm>
          <a:prstGeom prst="ellipse">
            <a:avLst/>
          </a:prstGeom>
          <a:solidFill>
            <a:srgbClr val="0B1929"/>
          </a:solidFill>
          <a:ln/>
        </p:spPr>
      </p:sp>
      <p:sp>
        <p:nvSpPr>
          <p:cNvPr id="13" name="Text 11"/>
          <p:cNvSpPr/>
          <p:nvPr/>
        </p:nvSpPr>
        <p:spPr>
          <a:xfrm>
            <a:off x="548640" y="4085082"/>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3</a:t>
            </a:r>
            <a:endParaRPr lang="en-US" sz="1600" dirty="0"/>
          </a:p>
        </p:txBody>
      </p:sp>
      <p:sp>
        <p:nvSpPr>
          <p:cNvPr id="14" name="Shape 12"/>
          <p:cNvSpPr/>
          <p:nvPr/>
        </p:nvSpPr>
        <p:spPr>
          <a:xfrm>
            <a:off x="1143000" y="3794760"/>
            <a:ext cx="7452360" cy="982980"/>
          </a:xfrm>
          <a:prstGeom prst="roundRect">
            <a:avLst>
              <a:gd name="adj" fmla="val 5581"/>
            </a:avLst>
          </a:prstGeom>
          <a:solidFill>
            <a:srgbClr val="FFFFFF"/>
          </a:solidFill>
          <a:ln/>
          <a:effectLst>
            <a:outerShdw sx="100000" sy="100000" kx="0" ky="0" algn="bl" rotWithShape="0" blurRad="63500" dist="25400" dir="5400000">
              <a:srgbClr val="000000">
                <a:alpha val="8000"/>
              </a:srgbClr>
            </a:outerShdw>
          </a:effectLst>
        </p:spPr>
      </p:sp>
      <p:sp>
        <p:nvSpPr>
          <p:cNvPr id="15" name="Text 13"/>
          <p:cNvSpPr/>
          <p:nvPr/>
        </p:nvSpPr>
        <p:spPr>
          <a:xfrm>
            <a:off x="1371600" y="3794760"/>
            <a:ext cx="6949440" cy="982980"/>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Confirm this layer with a real flowgraph, not just a package-install check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What This Layer Provides</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GNU Radio: the general-purpose DSP framework used later for occupancy-detection flowgraphs</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gr-osmosdr: the abstraction layer letting GNU Radio talk to HackRF, RTL-SDR, and many other SDRs through one consistent interface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direwolf: packet radio / AX.25 / APRS software modem, also used for maritime AIS decode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multimon-ng: FLEX, POCSAG, and other digital-mode decoders</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SYSTEM DESIGN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The System-Python Boundary</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GNU Radio's Python bindings are wired into system dist-packages by its apt package — not installable via pip into either project venv</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Neither the ai-ingest nor sigint-processing venv was created with --system-site-packages, so GNU Radio's bindings are invisible to them by design</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The practical split: GNU Radio flowgraphs run under system Python; anything that just CONSUMES GNU Radio's output (files, multicast streams) stays in the venv-isolated world</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This decision, made all the way back in Phase 2, is exactly what makes the occupancy-detection flowgraphs in Phase 6.6 straightforward to write later</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DESIGN RATIONALE</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Key Design Decisions</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Installed BEFORE OpenWebRX+ (Phase 6.4) deliberately — OpenWebRX+ auto-detects direwolf and multimon-ng as optional decoders at its own startup, so order matters</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Validation must build and run an ACTUAL flowgraph (a real source-to-sink data path), not just confirm the packages installed</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ffmpeg included here for format conversion needs elsewhere in the pipeline</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HANDS-ON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Hands-On Lab</a:t>
            </a:r>
            <a:endParaRPr lang="en-US" sz="2800" dirty="0"/>
          </a:p>
        </p:txBody>
      </p:sp>
      <p:sp>
        <p:nvSpPr>
          <p:cNvPr id="4" name="Shape 2"/>
          <p:cNvSpPr/>
          <p:nvPr/>
        </p:nvSpPr>
        <p:spPr>
          <a:xfrm>
            <a:off x="548640" y="1508760"/>
            <a:ext cx="457200" cy="752094"/>
          </a:xfrm>
          <a:prstGeom prst="roundRect">
            <a:avLst>
              <a:gd name="adj" fmla="val 12000"/>
            </a:avLst>
          </a:prstGeom>
          <a:solidFill>
            <a:srgbClr val="00A8CC"/>
          </a:solidFill>
          <a:ln/>
        </p:spPr>
      </p:sp>
      <p:sp>
        <p:nvSpPr>
          <p:cNvPr id="5" name="Text 3"/>
          <p:cNvSpPr/>
          <p:nvPr/>
        </p:nvSpPr>
        <p:spPr>
          <a:xfrm>
            <a:off x="548640" y="1508760"/>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1</a:t>
            </a:r>
            <a:endParaRPr lang="en-US" sz="1500" dirty="0"/>
          </a:p>
        </p:txBody>
      </p:sp>
      <p:sp>
        <p:nvSpPr>
          <p:cNvPr id="6" name="Shape 4"/>
          <p:cNvSpPr/>
          <p:nvPr/>
        </p:nvSpPr>
        <p:spPr>
          <a:xfrm>
            <a:off x="1143000" y="1508760"/>
            <a:ext cx="7452360" cy="752094"/>
          </a:xfrm>
          <a:prstGeom prst="roundRect">
            <a:avLst>
              <a:gd name="adj" fmla="val 6079"/>
            </a:avLst>
          </a:prstGeom>
          <a:solidFill>
            <a:srgbClr val="FFFFFF"/>
          </a:solidFill>
          <a:ln w="12700">
            <a:solidFill>
              <a:srgbClr val="DCE3E8"/>
            </a:solidFill>
            <a:prstDash val="solid"/>
          </a:ln>
        </p:spPr>
      </p:sp>
      <p:sp>
        <p:nvSpPr>
          <p:cNvPr id="7" name="Text 5"/>
          <p:cNvSpPr/>
          <p:nvPr/>
        </p:nvSpPr>
        <p:spPr>
          <a:xfrm>
            <a:off x="1371600" y="1508760"/>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sudo ./scripts/phase6-decode-tools.sh</a:t>
            </a:r>
            <a:endParaRPr lang="en-US" sz="1250" dirty="0"/>
          </a:p>
        </p:txBody>
      </p:sp>
      <p:sp>
        <p:nvSpPr>
          <p:cNvPr id="8" name="Shape 6"/>
          <p:cNvSpPr/>
          <p:nvPr/>
        </p:nvSpPr>
        <p:spPr>
          <a:xfrm>
            <a:off x="548640" y="2370582"/>
            <a:ext cx="457200" cy="752094"/>
          </a:xfrm>
          <a:prstGeom prst="roundRect">
            <a:avLst>
              <a:gd name="adj" fmla="val 12000"/>
            </a:avLst>
          </a:prstGeom>
          <a:solidFill>
            <a:srgbClr val="00A8CC"/>
          </a:solidFill>
          <a:ln/>
        </p:spPr>
      </p:sp>
      <p:sp>
        <p:nvSpPr>
          <p:cNvPr id="9" name="Text 7"/>
          <p:cNvSpPr/>
          <p:nvPr/>
        </p:nvSpPr>
        <p:spPr>
          <a:xfrm>
            <a:off x="548640" y="2370582"/>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2</a:t>
            </a:r>
            <a:endParaRPr lang="en-US" sz="1500" dirty="0"/>
          </a:p>
        </p:txBody>
      </p:sp>
      <p:sp>
        <p:nvSpPr>
          <p:cNvPr id="10" name="Shape 8"/>
          <p:cNvSpPr/>
          <p:nvPr/>
        </p:nvSpPr>
        <p:spPr>
          <a:xfrm>
            <a:off x="1143000" y="2370582"/>
            <a:ext cx="7452360" cy="752094"/>
          </a:xfrm>
          <a:prstGeom prst="roundRect">
            <a:avLst>
              <a:gd name="adj" fmla="val 6079"/>
            </a:avLst>
          </a:prstGeom>
          <a:solidFill>
            <a:srgbClr val="FFFFFF"/>
          </a:solidFill>
          <a:ln w="12700">
            <a:solidFill>
              <a:srgbClr val="DCE3E8"/>
            </a:solidFill>
            <a:prstDash val="solid"/>
          </a:ln>
        </p:spPr>
      </p:sp>
      <p:sp>
        <p:nvSpPr>
          <p:cNvPr id="11" name="Text 9"/>
          <p:cNvSpPr/>
          <p:nvPr/>
        </p:nvSpPr>
        <p:spPr>
          <a:xfrm>
            <a:off x="1371600" y="2370582"/>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./scripts/phase6-decode-tools-validate.sh — builds and runs a real GNU Radio flowgraph, checks direwolf/multimon-ng/ffmpeg</a:t>
            </a:r>
            <a:endParaRPr lang="en-US" sz="1250" dirty="0"/>
          </a:p>
        </p:txBody>
      </p:sp>
      <p:sp>
        <p:nvSpPr>
          <p:cNvPr id="12" name="Shape 10"/>
          <p:cNvSpPr/>
          <p:nvPr/>
        </p:nvSpPr>
        <p:spPr>
          <a:xfrm>
            <a:off x="548640" y="3232404"/>
            <a:ext cx="457200" cy="752094"/>
          </a:xfrm>
          <a:prstGeom prst="roundRect">
            <a:avLst>
              <a:gd name="adj" fmla="val 12000"/>
            </a:avLst>
          </a:prstGeom>
          <a:solidFill>
            <a:srgbClr val="00A8CC"/>
          </a:solidFill>
          <a:ln/>
        </p:spPr>
      </p:sp>
      <p:sp>
        <p:nvSpPr>
          <p:cNvPr id="13" name="Text 11"/>
          <p:cNvSpPr/>
          <p:nvPr/>
        </p:nvSpPr>
        <p:spPr>
          <a:xfrm>
            <a:off x="548640" y="3232404"/>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3</a:t>
            </a:r>
            <a:endParaRPr lang="en-US" sz="1500" dirty="0"/>
          </a:p>
        </p:txBody>
      </p:sp>
      <p:sp>
        <p:nvSpPr>
          <p:cNvPr id="14" name="Shape 12"/>
          <p:cNvSpPr/>
          <p:nvPr/>
        </p:nvSpPr>
        <p:spPr>
          <a:xfrm>
            <a:off x="1143000" y="3232404"/>
            <a:ext cx="7452360" cy="752094"/>
          </a:xfrm>
          <a:prstGeom prst="roundRect">
            <a:avLst>
              <a:gd name="adj" fmla="val 6079"/>
            </a:avLst>
          </a:prstGeom>
          <a:solidFill>
            <a:srgbClr val="FFFFFF"/>
          </a:solidFill>
          <a:ln w="12700">
            <a:solidFill>
              <a:srgbClr val="DCE3E8"/>
            </a:solidFill>
            <a:prstDash val="solid"/>
          </a:ln>
        </p:spPr>
      </p:sp>
      <p:sp>
        <p:nvSpPr>
          <p:cNvPr id="15" name="Text 13"/>
          <p:cNvSpPr/>
          <p:nvPr/>
        </p:nvSpPr>
        <p:spPr>
          <a:xfrm>
            <a:off x="1371600" y="3232404"/>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Confirm GNU Radio's Python import works from system Python: python3 -c 'import gnuradio'</a:t>
            </a:r>
            <a:endParaRPr lang="en-US" sz="1250" dirty="0"/>
          </a:p>
        </p:txBody>
      </p:sp>
      <p:sp>
        <p:nvSpPr>
          <p:cNvPr id="16" name="Shape 14"/>
          <p:cNvSpPr/>
          <p:nvPr/>
        </p:nvSpPr>
        <p:spPr>
          <a:xfrm>
            <a:off x="548640" y="4094226"/>
            <a:ext cx="457200" cy="752094"/>
          </a:xfrm>
          <a:prstGeom prst="roundRect">
            <a:avLst>
              <a:gd name="adj" fmla="val 12000"/>
            </a:avLst>
          </a:prstGeom>
          <a:solidFill>
            <a:srgbClr val="00A8CC"/>
          </a:solidFill>
          <a:ln/>
        </p:spPr>
      </p:sp>
      <p:sp>
        <p:nvSpPr>
          <p:cNvPr id="17" name="Text 15"/>
          <p:cNvSpPr/>
          <p:nvPr/>
        </p:nvSpPr>
        <p:spPr>
          <a:xfrm>
            <a:off x="548640" y="4094226"/>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4</a:t>
            </a:r>
            <a:endParaRPr lang="en-US" sz="1500" dirty="0"/>
          </a:p>
        </p:txBody>
      </p:sp>
      <p:sp>
        <p:nvSpPr>
          <p:cNvPr id="18" name="Shape 16"/>
          <p:cNvSpPr/>
          <p:nvPr/>
        </p:nvSpPr>
        <p:spPr>
          <a:xfrm>
            <a:off x="1143000" y="4094226"/>
            <a:ext cx="7452360" cy="752094"/>
          </a:xfrm>
          <a:prstGeom prst="roundRect">
            <a:avLst>
              <a:gd name="adj" fmla="val 6079"/>
            </a:avLst>
          </a:prstGeom>
          <a:solidFill>
            <a:srgbClr val="FFFFFF"/>
          </a:solidFill>
          <a:ln w="12700">
            <a:solidFill>
              <a:srgbClr val="DCE3E8"/>
            </a:solidFill>
            <a:prstDash val="solid"/>
          </a:ln>
        </p:spPr>
      </p:sp>
      <p:sp>
        <p:nvSpPr>
          <p:cNvPr id="19" name="Text 17"/>
          <p:cNvSpPr/>
          <p:nvPr/>
        </p:nvSpPr>
        <p:spPr>
          <a:xfrm>
            <a:off x="1371600" y="4094226"/>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Confirm it does NOT import from either project venv (this is expected and correct)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548640" y="365760"/>
            <a:ext cx="2377440" cy="457200"/>
          </a:xfrm>
          <a:prstGeom prst="roundRect">
            <a:avLst>
              <a:gd name="adj" fmla="val 50000"/>
            </a:avLst>
          </a:prstGeom>
          <a:solidFill>
            <a:srgbClr val="F4A300"/>
          </a:solidFill>
          <a:ln/>
        </p:spPr>
      </p:sp>
      <p:sp>
        <p:nvSpPr>
          <p:cNvPr id="3" name="Text 1"/>
          <p:cNvSpPr/>
          <p:nvPr/>
        </p:nvSpPr>
        <p:spPr>
          <a:xfrm>
            <a:off x="548640" y="365760"/>
            <a:ext cx="2377440" cy="457200"/>
          </a:xfrm>
          <a:prstGeom prst="rect">
            <a:avLst/>
          </a:prstGeom>
          <a:noFill/>
          <a:ln/>
        </p:spPr>
        <p:txBody>
          <a:bodyPr wrap="square" lIns="0" tIns="0" rIns="0" bIns="0" rtlCol="0" anchor="ctr"/>
          <a:lstStyle/>
          <a:p>
            <a:pPr algn="ctr" indent="0" marL="0">
              <a:buNone/>
            </a:pPr>
            <a:r>
              <a:rPr lang="en-US" sz="1300" b="1" spc="100" kern="0" dirty="0">
                <a:solidFill>
                  <a:srgbClr val="0B1929"/>
                </a:solidFill>
                <a:latin typeface="Calibri" pitchFamily="34" charset="0"/>
                <a:ea typeface="Calibri" pitchFamily="34" charset="-122"/>
                <a:cs typeface="Calibri" pitchFamily="34" charset="-120"/>
              </a:rPr>
              <a:t>REAL-WORLD BUG</a:t>
            </a:r>
            <a:endParaRPr lang="en-US" sz="1300" dirty="0"/>
          </a:p>
        </p:txBody>
      </p:sp>
      <p:sp>
        <p:nvSpPr>
          <p:cNvPr id="4" name="Text 2"/>
          <p:cNvSpPr/>
          <p:nvPr/>
        </p:nvSpPr>
        <p:spPr>
          <a:xfrm>
            <a:off x="548640" y="960120"/>
            <a:ext cx="8046720" cy="7772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Why Validate With a Real Flowgraph</a:t>
            </a:r>
            <a:endParaRPr lang="en-US" sz="2400" dirty="0"/>
          </a:p>
        </p:txBody>
      </p:sp>
      <p:sp>
        <p:nvSpPr>
          <p:cNvPr id="5" name="Shape 3"/>
          <p:cNvSpPr/>
          <p:nvPr/>
        </p:nvSpPr>
        <p:spPr>
          <a:xfrm>
            <a:off x="548640" y="1828800"/>
            <a:ext cx="8046720" cy="3063240"/>
          </a:xfrm>
          <a:prstGeom prst="roundRect">
            <a:avLst>
              <a:gd name="adj" fmla="val 2388"/>
            </a:avLst>
          </a:prstGeom>
          <a:solidFill>
            <a:srgbClr val="13273D"/>
          </a:solidFill>
          <a:ln/>
        </p:spPr>
      </p:sp>
      <p:sp>
        <p:nvSpPr>
          <p:cNvPr id="6" name="Text 4"/>
          <p:cNvSpPr/>
          <p:nvPr/>
        </p:nvSpPr>
        <p:spPr>
          <a:xfrm>
            <a:off x="868680" y="2057400"/>
            <a:ext cx="7406640" cy="2651760"/>
          </a:xfrm>
          <a:prstGeom prst="rect">
            <a:avLst/>
          </a:prstGeom>
          <a:noFill/>
          <a:ln/>
        </p:spPr>
        <p:txBody>
          <a:bodyPr wrap="square" lIns="0" tIns="0" rIns="0" bIns="0" rtlCol="0" anchor="t"/>
          <a:lstStyle/>
          <a:p>
            <a:pPr indent="0" marL="0">
              <a:lnSpc>
                <a:spcPct val="125000"/>
              </a:lnSpc>
              <a:buNone/>
            </a:pPr>
            <a:r>
              <a:rPr lang="en-US" sz="1350" dirty="0">
                <a:solidFill>
                  <a:srgbClr val="F7F9FA"/>
                </a:solidFill>
                <a:latin typeface="Calibri" pitchFamily="34" charset="0"/>
                <a:ea typeface="Calibri" pitchFamily="34" charset="-122"/>
                <a:cs typeface="Calibri" pitchFamily="34" charset="-120"/>
              </a:rPr>
              <a:t>It would be easy to consider this phase 'done' once apt reports gnuradio installed successfully. But a package installing cleanly says nothing about whether its Python bindings are actually reachable, whether gr-osmosdr correctly finds the SDR hardware, or whether the whole dependency chain (Qt, VOLK, Boost) resolved without conflict. This build's validation script instead constructs and runs an actual signal source connected to an actual signal sink — a minimal but real, working flowgraph. If that runs, the entire chain is proven end to end. This is the same 'prove it with a real capture, not an enumeration' principle from Phase 1, applied to software instead of hardware.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BEFORE MOVING 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Exit Criteria</a:t>
            </a:r>
            <a:endParaRPr lang="en-US" sz="2800" dirty="0"/>
          </a:p>
        </p:txBody>
      </p:sp>
      <p:sp>
        <p:nvSpPr>
          <p:cNvPr id="4" name="Shape 2"/>
          <p:cNvSpPr/>
          <p:nvPr/>
        </p:nvSpPr>
        <p:spPr>
          <a:xfrm>
            <a:off x="548640" y="155448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5" name="Shape 3"/>
          <p:cNvSpPr/>
          <p:nvPr/>
        </p:nvSpPr>
        <p:spPr>
          <a:xfrm>
            <a:off x="777240" y="1914144"/>
            <a:ext cx="256032" cy="256032"/>
          </a:xfrm>
          <a:prstGeom prst="ellipse">
            <a:avLst/>
          </a:prstGeom>
          <a:solidFill>
            <a:srgbClr val="00A8CC"/>
          </a:solidFill>
          <a:ln/>
        </p:spPr>
      </p:sp>
      <p:sp>
        <p:nvSpPr>
          <p:cNvPr id="6" name="Text 4"/>
          <p:cNvSpPr/>
          <p:nvPr/>
        </p:nvSpPr>
        <p:spPr>
          <a:xfrm>
            <a:off x="1234440" y="155448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A real GNU Radio flowgraph builds and runs successfully</a:t>
            </a:r>
            <a:endParaRPr lang="en-US" sz="1450" dirty="0"/>
          </a:p>
        </p:txBody>
      </p:sp>
      <p:sp>
        <p:nvSpPr>
          <p:cNvPr id="7" name="Shape 5"/>
          <p:cNvSpPr/>
          <p:nvPr/>
        </p:nvSpPr>
        <p:spPr>
          <a:xfrm>
            <a:off x="548640" y="271272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8" name="Shape 6"/>
          <p:cNvSpPr/>
          <p:nvPr/>
        </p:nvSpPr>
        <p:spPr>
          <a:xfrm>
            <a:off x="777240" y="3072384"/>
            <a:ext cx="256032" cy="256032"/>
          </a:xfrm>
          <a:prstGeom prst="ellipse">
            <a:avLst/>
          </a:prstGeom>
          <a:solidFill>
            <a:srgbClr val="00A8CC"/>
          </a:solidFill>
          <a:ln/>
        </p:spPr>
      </p:sp>
      <p:sp>
        <p:nvSpPr>
          <p:cNvPr id="9" name="Text 7"/>
          <p:cNvSpPr/>
          <p:nvPr/>
        </p:nvSpPr>
        <p:spPr>
          <a:xfrm>
            <a:off x="1234440" y="271272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direwolf and multimon-ng both report their version correctly</a:t>
            </a:r>
            <a:endParaRPr lang="en-US" sz="1450" dirty="0"/>
          </a:p>
        </p:txBody>
      </p:sp>
      <p:sp>
        <p:nvSpPr>
          <p:cNvPr id="10" name="Shape 8"/>
          <p:cNvSpPr/>
          <p:nvPr/>
        </p:nvSpPr>
        <p:spPr>
          <a:xfrm>
            <a:off x="548640" y="387096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11" name="Shape 9"/>
          <p:cNvSpPr/>
          <p:nvPr/>
        </p:nvSpPr>
        <p:spPr>
          <a:xfrm>
            <a:off x="777240" y="4230624"/>
            <a:ext cx="256032" cy="256032"/>
          </a:xfrm>
          <a:prstGeom prst="ellipse">
            <a:avLst/>
          </a:prstGeom>
          <a:solidFill>
            <a:srgbClr val="00A8CC"/>
          </a:solidFill>
          <a:ln/>
        </p:spPr>
      </p:sp>
      <p:sp>
        <p:nvSpPr>
          <p:cNvPr id="12" name="Text 10"/>
          <p:cNvSpPr/>
          <p:nvPr/>
        </p:nvSpPr>
        <p:spPr>
          <a:xfrm>
            <a:off x="1234440" y="387096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ffmpeg completes a real encode test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GROUP DISCUSSION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Discussion Questions</a:t>
            </a:r>
            <a:endParaRPr lang="en-US" sz="2800" dirty="0"/>
          </a:p>
        </p:txBody>
      </p:sp>
      <p:sp>
        <p:nvSpPr>
          <p:cNvPr id="4" name="Text 2"/>
          <p:cNvSpPr/>
          <p:nvPr/>
        </p:nvSpPr>
        <p:spPr>
          <a:xfrm>
            <a:off x="548640" y="160020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Q1</a:t>
            </a:r>
            <a:endParaRPr lang="en-US" sz="2200" dirty="0"/>
          </a:p>
        </p:txBody>
      </p:sp>
      <p:sp>
        <p:nvSpPr>
          <p:cNvPr id="5" name="Shape 3"/>
          <p:cNvSpPr/>
          <p:nvPr/>
        </p:nvSpPr>
        <p:spPr>
          <a:xfrm>
            <a:off x="1280160" y="160020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6" name="Text 4"/>
          <p:cNvSpPr/>
          <p:nvPr/>
        </p:nvSpPr>
        <p:spPr>
          <a:xfrm>
            <a:off x="1508760" y="160020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Why might 'the package installed' and 'the software actually works' be two very different claims, especially for a large DSP framework?</a:t>
            </a:r>
            <a:endParaRPr lang="en-US" sz="1400" dirty="0"/>
          </a:p>
        </p:txBody>
      </p:sp>
      <p:sp>
        <p:nvSpPr>
          <p:cNvPr id="7" name="Text 5"/>
          <p:cNvSpPr/>
          <p:nvPr/>
        </p:nvSpPr>
        <p:spPr>
          <a:xfrm>
            <a:off x="548640" y="275844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Q2</a:t>
            </a:r>
            <a:endParaRPr lang="en-US" sz="2200" dirty="0"/>
          </a:p>
        </p:txBody>
      </p:sp>
      <p:sp>
        <p:nvSpPr>
          <p:cNvPr id="8" name="Shape 6"/>
          <p:cNvSpPr/>
          <p:nvPr/>
        </p:nvSpPr>
        <p:spPr>
          <a:xfrm>
            <a:off x="1280160" y="275844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9" name="Text 7"/>
          <p:cNvSpPr/>
          <p:nvPr/>
        </p:nvSpPr>
        <p:spPr>
          <a:xfrm>
            <a:off x="1508760" y="275844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What are the tradeoffs of the venv-isolation decision made in Phase 2, now that we see its consequence here?</a:t>
            </a:r>
            <a:endParaRPr lang="en-US" sz="1400" dirty="0"/>
          </a:p>
        </p:txBody>
      </p:sp>
      <p:sp>
        <p:nvSpPr>
          <p:cNvPr id="10" name="Text 8"/>
          <p:cNvSpPr/>
          <p:nvPr/>
        </p:nvSpPr>
        <p:spPr>
          <a:xfrm>
            <a:off x="548640" y="391668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Q3</a:t>
            </a:r>
            <a:endParaRPr lang="en-US" sz="2200" dirty="0"/>
          </a:p>
        </p:txBody>
      </p:sp>
      <p:sp>
        <p:nvSpPr>
          <p:cNvPr id="11" name="Shape 9"/>
          <p:cNvSpPr/>
          <p:nvPr/>
        </p:nvSpPr>
        <p:spPr>
          <a:xfrm>
            <a:off x="1280160" y="391668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12" name="Text 10"/>
          <p:cNvSpPr/>
          <p:nvPr/>
        </p:nvSpPr>
        <p:spPr>
          <a:xfrm>
            <a:off x="1508760" y="391668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Could you restructure this build to avoid the system-Python/venv split entirely? What would you give up?</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3291840"/>
            <a:ext cx="9144000" cy="457200"/>
          </a:xfrm>
          <a:prstGeom prst="rect">
            <a:avLst/>
          </a:prstGeom>
          <a:solidFill>
            <a:srgbClr val="00A8CC">
              <a:alpha val="14000"/>
            </a:srgbClr>
          </a:solidFill>
          <a:ln/>
        </p:spPr>
      </p:sp>
      <p:sp>
        <p:nvSpPr>
          <p:cNvPr id="3" name="Shape 1"/>
          <p:cNvSpPr/>
          <p:nvPr/>
        </p:nvSpPr>
        <p:spPr>
          <a:xfrm>
            <a:off x="0" y="3794760"/>
            <a:ext cx="9144000" cy="457200"/>
          </a:xfrm>
          <a:prstGeom prst="rect">
            <a:avLst/>
          </a:prstGeom>
          <a:solidFill>
            <a:srgbClr val="00A8CC">
              <a:alpha val="28000"/>
            </a:srgbClr>
          </a:solidFill>
          <a:ln/>
        </p:spPr>
      </p:sp>
      <p:sp>
        <p:nvSpPr>
          <p:cNvPr id="4" name="Shape 2"/>
          <p:cNvSpPr/>
          <p:nvPr/>
        </p:nvSpPr>
        <p:spPr>
          <a:xfrm>
            <a:off x="0" y="4297680"/>
            <a:ext cx="9144000" cy="457200"/>
          </a:xfrm>
          <a:prstGeom prst="rect">
            <a:avLst/>
          </a:prstGeom>
          <a:solidFill>
            <a:srgbClr val="00A8CC">
              <a:alpha val="45000"/>
            </a:srgbClr>
          </a:solidFill>
          <a:ln/>
        </p:spPr>
      </p:sp>
      <p:sp>
        <p:nvSpPr>
          <p:cNvPr id="5" name="Shape 3"/>
          <p:cNvSpPr/>
          <p:nvPr/>
        </p:nvSpPr>
        <p:spPr>
          <a:xfrm>
            <a:off x="0" y="4800600"/>
            <a:ext cx="9144000" cy="457200"/>
          </a:xfrm>
          <a:prstGeom prst="rect">
            <a:avLst/>
          </a:prstGeom>
          <a:solidFill>
            <a:srgbClr val="00A8CC">
              <a:alpha val="65000"/>
            </a:srgbClr>
          </a:solidFill>
          <a:ln/>
        </p:spPr>
      </p:sp>
      <p:sp>
        <p:nvSpPr>
          <p:cNvPr id="6" name="Text 4"/>
          <p:cNvSpPr/>
          <p:nvPr/>
        </p:nvSpPr>
        <p:spPr>
          <a:xfrm>
            <a:off x="548640" y="640080"/>
            <a:ext cx="8046720" cy="365760"/>
          </a:xfrm>
          <a:prstGeom prst="rect">
            <a:avLst/>
          </a:prstGeom>
          <a:noFill/>
          <a:ln/>
        </p:spPr>
        <p:txBody>
          <a:bodyPr wrap="square" lIns="0" tIns="0" rIns="0" bIns="0" rtlCol="0" anchor="ctr"/>
          <a:lstStyle/>
          <a:p>
            <a:pPr indent="0" marL="0">
              <a:buNone/>
            </a:pPr>
            <a:r>
              <a:rPr lang="en-US" sz="1400" b="1" spc="200" kern="0" dirty="0">
                <a:solidFill>
                  <a:srgbClr val="F4A300"/>
                </a:solidFill>
                <a:latin typeface="Calibri" pitchFamily="34" charset="0"/>
                <a:ea typeface="Calibri" pitchFamily="34" charset="-122"/>
                <a:cs typeface="Calibri" pitchFamily="34" charset="-120"/>
              </a:rPr>
              <a:t>NEXT SESSION</a:t>
            </a:r>
            <a:endParaRPr lang="en-US" sz="1400" dirty="0"/>
          </a:p>
        </p:txBody>
      </p:sp>
      <p:sp>
        <p:nvSpPr>
          <p:cNvPr id="7" name="Text 5"/>
          <p:cNvSpPr/>
          <p:nvPr/>
        </p:nvSpPr>
        <p:spPr>
          <a:xfrm>
            <a:off x="548640" y="1051560"/>
            <a:ext cx="8046720" cy="1828800"/>
          </a:xfrm>
          <a:prstGeom prst="rect">
            <a:avLst/>
          </a:prstGeom>
          <a:noFill/>
          <a:ln/>
        </p:spPr>
        <p:txBody>
          <a:bodyPr wrap="square" lIns="0" tIns="0" rIns="0" bIns="0" rtlCol="0" anchor="ctr"/>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Phase 6.3 — SigID Mirror: a local reference catalog, and a rate-limiting bug that killed an entire sync run.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6.2 — Decode Layer</dc:title>
  <dc:subject>PptxGenJS Presentation</dc:subject>
  <dc:creator>Sovereign SIGINT Course</dc:creator>
  <cp:lastModifiedBy>Sovereign SIGINT Course</cp:lastModifiedBy>
  <cp:revision>1</cp:revision>
  <dcterms:created xsi:type="dcterms:W3CDTF">2026-07-22T07:08:30Z</dcterms:created>
  <dcterms:modified xsi:type="dcterms:W3CDTF">2026-07-22T07:08:30Z</dcterms:modified>
</cp:coreProperties>
</file>