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A8CC">
              <a:alpha val="85000"/>
            </a:srgbClr>
          </a:solidFill>
          <a:ln/>
        </p:spPr>
      </p:sp>
      <p:sp>
        <p:nvSpPr>
          <p:cNvPr id="3" name="Shape 1"/>
          <p:cNvSpPr/>
          <p:nvPr/>
        </p:nvSpPr>
        <p:spPr>
          <a:xfrm>
            <a:off x="0" y="502920"/>
            <a:ext cx="9144000" cy="457200"/>
          </a:xfrm>
          <a:prstGeom prst="rect">
            <a:avLst/>
          </a:prstGeom>
          <a:solidFill>
            <a:srgbClr val="00A8CC">
              <a:alpha val="65000"/>
            </a:srgbClr>
          </a:solidFill>
          <a:ln/>
        </p:spPr>
      </p:sp>
      <p:sp>
        <p:nvSpPr>
          <p:cNvPr id="4" name="Shape 2"/>
          <p:cNvSpPr/>
          <p:nvPr/>
        </p:nvSpPr>
        <p:spPr>
          <a:xfrm>
            <a:off x="0" y="1005840"/>
            <a:ext cx="9144000" cy="457200"/>
          </a:xfrm>
          <a:prstGeom prst="rect">
            <a:avLst/>
          </a:prstGeom>
          <a:solidFill>
            <a:srgbClr val="00A8CC">
              <a:alpha val="45000"/>
            </a:srgbClr>
          </a:solidFill>
          <a:ln/>
        </p:spPr>
      </p:sp>
      <p:sp>
        <p:nvSpPr>
          <p:cNvPr id="5" name="Shape 3"/>
          <p:cNvSpPr/>
          <p:nvPr/>
        </p:nvSpPr>
        <p:spPr>
          <a:xfrm>
            <a:off x="0" y="1508760"/>
            <a:ext cx="9144000" cy="457200"/>
          </a:xfrm>
          <a:prstGeom prst="rect">
            <a:avLst/>
          </a:prstGeom>
          <a:solidFill>
            <a:srgbClr val="00A8CC">
              <a:alpha val="28000"/>
            </a:srgbClr>
          </a:solidFill>
          <a:ln/>
        </p:spPr>
      </p:sp>
      <p:sp>
        <p:nvSpPr>
          <p:cNvPr id="6" name="Shape 4"/>
          <p:cNvSpPr/>
          <p:nvPr/>
        </p:nvSpPr>
        <p:spPr>
          <a:xfrm>
            <a:off x="0" y="2011680"/>
            <a:ext cx="9144000" cy="457200"/>
          </a:xfrm>
          <a:prstGeom prst="rect">
            <a:avLst/>
          </a:prstGeom>
          <a:solidFill>
            <a:srgbClr val="00A8CC">
              <a:alpha val="14000"/>
            </a:srgbClr>
          </a:solidFill>
          <a:ln/>
        </p:spPr>
      </p:sp>
      <p:sp>
        <p:nvSpPr>
          <p:cNvPr id="7" name="Text 5"/>
          <p:cNvSpPr/>
          <p:nvPr/>
        </p:nvSpPr>
        <p:spPr>
          <a:xfrm>
            <a:off x="548640" y="2331720"/>
            <a:ext cx="8046720" cy="457200"/>
          </a:xfrm>
          <a:prstGeom prst="rect">
            <a:avLst/>
          </a:prstGeom>
          <a:noFill/>
          <a:ln/>
        </p:spPr>
        <p:txBody>
          <a:bodyPr wrap="square" lIns="0" tIns="0" rIns="0" bIns="0" rtlCol="0" anchor="ctr"/>
          <a:lstStyle/>
          <a:p>
            <a:pPr indent="0" marL="0">
              <a:buNone/>
            </a:pPr>
            <a:r>
              <a:rPr lang="en-US" sz="1600" b="1" spc="300" kern="0" dirty="0">
                <a:solidFill>
                  <a:srgbClr val="F4A300"/>
                </a:solidFill>
                <a:latin typeface="Calibri" pitchFamily="34" charset="0"/>
                <a:ea typeface="Calibri" pitchFamily="34" charset="-122"/>
                <a:cs typeface="Calibri" pitchFamily="34" charset="-120"/>
              </a:rPr>
              <a:t>LAB 0</a:t>
            </a:r>
            <a:endParaRPr lang="en-US" sz="1600" dirty="0"/>
          </a:p>
        </p:txBody>
      </p:sp>
      <p:sp>
        <p:nvSpPr>
          <p:cNvPr id="8" name="Text 6"/>
          <p:cNvSpPr/>
          <p:nvPr/>
        </p:nvSpPr>
        <p:spPr>
          <a:xfrm>
            <a:off x="548640" y="2743200"/>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Introduction to Sovereign SIGINT</a:t>
            </a:r>
            <a:endParaRPr lang="en-US" sz="4000" dirty="0"/>
          </a:p>
        </p:txBody>
      </p:sp>
      <p:sp>
        <p:nvSpPr>
          <p:cNvPr id="9" name="Text 7"/>
          <p:cNvSpPr/>
          <p:nvPr/>
        </p:nvSpPr>
        <p:spPr>
          <a:xfrm>
            <a:off x="548640" y="3840480"/>
            <a:ext cx="8046720" cy="640080"/>
          </a:xfrm>
          <a:prstGeom prst="rect">
            <a:avLst/>
          </a:prstGeom>
          <a:noFill/>
          <a:ln/>
        </p:spPr>
        <p:txBody>
          <a:bodyPr wrap="square" lIns="0" tIns="0" rIns="0" bIns="0" rtlCol="0" anchor="ctr"/>
          <a:lstStyle/>
          <a:p>
            <a:pPr indent="0" marL="0">
              <a:buNone/>
            </a:pPr>
            <a:r>
              <a:rPr lang="en-US" sz="1800" i="1" dirty="0">
                <a:solidFill>
                  <a:srgbClr val="00A8CC"/>
                </a:solidFill>
                <a:latin typeface="Calibri" pitchFamily="34" charset="0"/>
                <a:ea typeface="Calibri" pitchFamily="34" charset="-122"/>
                <a:cs typeface="Calibri" pitchFamily="34" charset="-120"/>
              </a:rPr>
              <a:t>Course Overview &amp; Architecture</a:t>
            </a:r>
            <a:endParaRPr lang="en-US" sz="1800" dirty="0"/>
          </a:p>
        </p:txBody>
      </p:sp>
      <p:sp>
        <p:nvSpPr>
          <p:cNvPr id="10" name="Text 8"/>
          <p:cNvSpPr/>
          <p:nvPr/>
        </p:nvSpPr>
        <p:spPr>
          <a:xfrm>
            <a:off x="548640" y="4709160"/>
            <a:ext cx="8046720" cy="320040"/>
          </a:xfrm>
          <a:prstGeom prst="rect">
            <a:avLst/>
          </a:prstGeom>
          <a:noFill/>
          <a:ln/>
        </p:spPr>
        <p:txBody>
          <a:bodyPr wrap="square" lIns="0" tIns="0" rIns="0" bIns="0" rtlCol="0" anchor="ctr"/>
          <a:lstStyle/>
          <a:p>
            <a:pPr indent="0" marL="0">
              <a:buNone/>
            </a:pPr>
            <a:r>
              <a:rPr lang="en-US" sz="1100" dirty="0">
                <a:solidFill>
                  <a:srgbClr val="5C7080"/>
                </a:solidFill>
                <a:latin typeface="Calibri" pitchFamily="34" charset="0"/>
                <a:ea typeface="Calibri" pitchFamily="34" charset="-122"/>
                <a:cs typeface="Calibri" pitchFamily="34" charset="-120"/>
              </a:rPr>
              <a:t>Sovereign SIGINT — College Lab Series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SESSION OVERVIEW</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Learning Objectives</a:t>
            </a:r>
            <a:endParaRPr lang="en-US" sz="2800" dirty="0"/>
          </a:p>
        </p:txBody>
      </p:sp>
      <p:sp>
        <p:nvSpPr>
          <p:cNvPr id="4" name="Shape 2"/>
          <p:cNvSpPr/>
          <p:nvPr/>
        </p:nvSpPr>
        <p:spPr>
          <a:xfrm>
            <a:off x="548640" y="1704785"/>
            <a:ext cx="402336" cy="402336"/>
          </a:xfrm>
          <a:prstGeom prst="ellipse">
            <a:avLst/>
          </a:prstGeom>
          <a:solidFill>
            <a:srgbClr val="0B1929"/>
          </a:solidFill>
          <a:ln/>
        </p:spPr>
      </p:sp>
      <p:sp>
        <p:nvSpPr>
          <p:cNvPr id="5" name="Text 3"/>
          <p:cNvSpPr/>
          <p:nvPr/>
        </p:nvSpPr>
        <p:spPr>
          <a:xfrm>
            <a:off x="548640" y="1704785"/>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1143000" y="1554480"/>
            <a:ext cx="7452360" cy="702945"/>
          </a:xfrm>
          <a:prstGeom prst="roundRect">
            <a:avLst>
              <a:gd name="adj" fmla="val 7805"/>
            </a:avLst>
          </a:prstGeom>
          <a:solidFill>
            <a:srgbClr val="FFFFFF"/>
          </a:solidFill>
          <a:ln/>
          <a:effectLst>
            <a:outerShdw sx="100000" sy="100000" kx="0" ky="0" algn="bl" rotWithShape="0" blurRad="63500" dist="25400" dir="5400000">
              <a:srgbClr val="000000">
                <a:alpha val="8000"/>
              </a:srgbClr>
            </a:outerShdw>
          </a:effectLst>
        </p:spPr>
      </p:sp>
      <p:sp>
        <p:nvSpPr>
          <p:cNvPr id="7" name="Text 5"/>
          <p:cNvSpPr/>
          <p:nvPr/>
        </p:nvSpPr>
        <p:spPr>
          <a:xfrm>
            <a:off x="1371600" y="1554480"/>
            <a:ext cx="6949440" cy="702945"/>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Define Sovereign AI and SIGINT, and why this course combines them</a:t>
            </a:r>
            <a:endParaRPr lang="en-US" sz="1500" dirty="0"/>
          </a:p>
        </p:txBody>
      </p:sp>
      <p:sp>
        <p:nvSpPr>
          <p:cNvPr id="8" name="Shape 6"/>
          <p:cNvSpPr/>
          <p:nvPr/>
        </p:nvSpPr>
        <p:spPr>
          <a:xfrm>
            <a:off x="548640" y="2544889"/>
            <a:ext cx="402336" cy="402336"/>
          </a:xfrm>
          <a:prstGeom prst="ellipse">
            <a:avLst/>
          </a:prstGeom>
          <a:solidFill>
            <a:srgbClr val="0B1929"/>
          </a:solidFill>
          <a:ln/>
        </p:spPr>
      </p:sp>
      <p:sp>
        <p:nvSpPr>
          <p:cNvPr id="9" name="Text 7"/>
          <p:cNvSpPr/>
          <p:nvPr/>
        </p:nvSpPr>
        <p:spPr>
          <a:xfrm>
            <a:off x="548640" y="2544889"/>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2</a:t>
            </a:r>
            <a:endParaRPr lang="en-US" sz="1600" dirty="0"/>
          </a:p>
        </p:txBody>
      </p:sp>
      <p:sp>
        <p:nvSpPr>
          <p:cNvPr id="10" name="Shape 8"/>
          <p:cNvSpPr/>
          <p:nvPr/>
        </p:nvSpPr>
        <p:spPr>
          <a:xfrm>
            <a:off x="1143000" y="2394585"/>
            <a:ext cx="7452360" cy="702945"/>
          </a:xfrm>
          <a:prstGeom prst="roundRect">
            <a:avLst>
              <a:gd name="adj" fmla="val 7805"/>
            </a:avLst>
          </a:prstGeom>
          <a:solidFill>
            <a:srgbClr val="FFFFFF"/>
          </a:solidFill>
          <a:ln/>
          <a:effectLst>
            <a:outerShdw sx="100000" sy="100000" kx="0" ky="0" algn="bl" rotWithShape="0" blurRad="63500" dist="25400" dir="5400000">
              <a:srgbClr val="000000">
                <a:alpha val="8000"/>
              </a:srgbClr>
            </a:outerShdw>
          </a:effectLst>
        </p:spPr>
      </p:sp>
      <p:sp>
        <p:nvSpPr>
          <p:cNvPr id="11" name="Text 9"/>
          <p:cNvSpPr/>
          <p:nvPr/>
        </p:nvSpPr>
        <p:spPr>
          <a:xfrm>
            <a:off x="1371600" y="2394585"/>
            <a:ext cx="6949440" cy="702945"/>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Tour the full system architecture at a high level</a:t>
            </a:r>
            <a:endParaRPr lang="en-US" sz="1500" dirty="0"/>
          </a:p>
        </p:txBody>
      </p:sp>
      <p:sp>
        <p:nvSpPr>
          <p:cNvPr id="12" name="Shape 10"/>
          <p:cNvSpPr/>
          <p:nvPr/>
        </p:nvSpPr>
        <p:spPr>
          <a:xfrm>
            <a:off x="548640" y="3384995"/>
            <a:ext cx="402336" cy="402336"/>
          </a:xfrm>
          <a:prstGeom prst="ellipse">
            <a:avLst/>
          </a:prstGeom>
          <a:solidFill>
            <a:srgbClr val="0B1929"/>
          </a:solidFill>
          <a:ln/>
        </p:spPr>
      </p:sp>
      <p:sp>
        <p:nvSpPr>
          <p:cNvPr id="13" name="Text 11"/>
          <p:cNvSpPr/>
          <p:nvPr/>
        </p:nvSpPr>
        <p:spPr>
          <a:xfrm>
            <a:off x="548640" y="3384995"/>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3</a:t>
            </a:r>
            <a:endParaRPr lang="en-US" sz="1600" dirty="0"/>
          </a:p>
        </p:txBody>
      </p:sp>
      <p:sp>
        <p:nvSpPr>
          <p:cNvPr id="14" name="Shape 12"/>
          <p:cNvSpPr/>
          <p:nvPr/>
        </p:nvSpPr>
        <p:spPr>
          <a:xfrm>
            <a:off x="1143000" y="3234690"/>
            <a:ext cx="7452360" cy="702945"/>
          </a:xfrm>
          <a:prstGeom prst="roundRect">
            <a:avLst>
              <a:gd name="adj" fmla="val 7805"/>
            </a:avLst>
          </a:prstGeom>
          <a:solidFill>
            <a:srgbClr val="FFFFFF"/>
          </a:solidFill>
          <a:ln/>
          <a:effectLst>
            <a:outerShdw sx="100000" sy="100000" kx="0" ky="0" algn="bl" rotWithShape="0" blurRad="63500" dist="25400" dir="5400000">
              <a:srgbClr val="000000">
                <a:alpha val="8000"/>
              </a:srgbClr>
            </a:outerShdw>
          </a:effectLst>
        </p:spPr>
      </p:sp>
      <p:sp>
        <p:nvSpPr>
          <p:cNvPr id="15" name="Text 13"/>
          <p:cNvSpPr/>
          <p:nvPr/>
        </p:nvSpPr>
        <p:spPr>
          <a:xfrm>
            <a:off x="1371600" y="3234690"/>
            <a:ext cx="6949440" cy="702945"/>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Understand the local-by-default, cloud-by-exception design philosophy</a:t>
            </a:r>
            <a:endParaRPr lang="en-US" sz="1500" dirty="0"/>
          </a:p>
        </p:txBody>
      </p:sp>
      <p:sp>
        <p:nvSpPr>
          <p:cNvPr id="16" name="Shape 14"/>
          <p:cNvSpPr/>
          <p:nvPr/>
        </p:nvSpPr>
        <p:spPr>
          <a:xfrm>
            <a:off x="548640" y="4225100"/>
            <a:ext cx="402336" cy="402336"/>
          </a:xfrm>
          <a:prstGeom prst="ellipse">
            <a:avLst/>
          </a:prstGeom>
          <a:solidFill>
            <a:srgbClr val="0B1929"/>
          </a:solidFill>
          <a:ln/>
        </p:spPr>
      </p:sp>
      <p:sp>
        <p:nvSpPr>
          <p:cNvPr id="17" name="Text 15"/>
          <p:cNvSpPr/>
          <p:nvPr/>
        </p:nvSpPr>
        <p:spPr>
          <a:xfrm>
            <a:off x="548640" y="4225100"/>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4</a:t>
            </a:r>
            <a:endParaRPr lang="en-US" sz="1600" dirty="0"/>
          </a:p>
        </p:txBody>
      </p:sp>
      <p:sp>
        <p:nvSpPr>
          <p:cNvPr id="18" name="Shape 16"/>
          <p:cNvSpPr/>
          <p:nvPr/>
        </p:nvSpPr>
        <p:spPr>
          <a:xfrm>
            <a:off x="1143000" y="4074795"/>
            <a:ext cx="7452360" cy="702945"/>
          </a:xfrm>
          <a:prstGeom prst="roundRect">
            <a:avLst>
              <a:gd name="adj" fmla="val 7805"/>
            </a:avLst>
          </a:prstGeom>
          <a:solidFill>
            <a:srgbClr val="FFFFFF"/>
          </a:solidFill>
          <a:ln/>
          <a:effectLst>
            <a:outerShdw sx="100000" sy="100000" kx="0" ky="0" algn="bl" rotWithShape="0" blurRad="63500" dist="25400" dir="5400000">
              <a:srgbClr val="000000">
                <a:alpha val="8000"/>
              </a:srgbClr>
            </a:outerShdw>
          </a:effectLst>
        </p:spPr>
      </p:sp>
      <p:sp>
        <p:nvSpPr>
          <p:cNvPr id="19" name="Text 17"/>
          <p:cNvSpPr/>
          <p:nvPr/>
        </p:nvSpPr>
        <p:spPr>
          <a:xfrm>
            <a:off x="1371600" y="4074795"/>
            <a:ext cx="6949440" cy="702945"/>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Preview the lab sequence and final project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What is Sovereign AI?</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AI infrastructure you own and control end-to-end: models, data, and compute stay on your hardware</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No dependency on a cloud vendor's API, uptime, or data policies</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"Local by default, cloud by exception" — Claude/cloud LLMs used only for deliberate, sanitized, non-sensitive escalation</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Directly relevant to defense, financial, and critical-infrastructure contexts where data sovereignty is not optional</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SYSTEM DESIGN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System Architecture</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Hardware layer: RX-888 MkII (HF), HackRF (1MHz-6GHz), RTL-SDR (VHF/UHF), Ubertooth One (Bluetooth), Evil Crow RF v2 (sub-GHz)</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AI stack (Phases 3-5): Ollama for local LLM inference, Open WebUI as the interface, an ingest pipeline for documents/images/audio</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SIGINT stack (Phase 6): radiod for wideband HF capture, GNU Radio + decoders, a signal-ID reference mirror, a web SDR, a SigMF export layer, and an occupancy database</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Every phase is independently validated before the next one builds on it — a real, working exit criteria at each step, not just "install succeeded"</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DESIGN RATIONALE</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Why This Course Structure</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One lab session per build phase — students build the actual system, not a simulation of it</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Every technical decision in this course came from a real build, including the bugs — you'll see actual failures and actual fixes, not idealized happy-path instructions</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Hardware-first: nothing is assumed to work until it's proven with a real capture or a real query</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Final lab applies the whole stack to real SIGINT use cases; a final project (to be assigned) builds on that foundation</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HANDS-ON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Today's Lab</a:t>
            </a:r>
            <a:endParaRPr lang="en-US" sz="2800" dirty="0"/>
          </a:p>
        </p:txBody>
      </p:sp>
      <p:sp>
        <p:nvSpPr>
          <p:cNvPr id="4" name="Shape 2"/>
          <p:cNvSpPr/>
          <p:nvPr/>
        </p:nvSpPr>
        <p:spPr>
          <a:xfrm>
            <a:off x="548640" y="1508760"/>
            <a:ext cx="457200" cy="752094"/>
          </a:xfrm>
          <a:prstGeom prst="roundRect">
            <a:avLst>
              <a:gd name="adj" fmla="val 12000"/>
            </a:avLst>
          </a:prstGeom>
          <a:solidFill>
            <a:srgbClr val="00A8CC"/>
          </a:solidFill>
          <a:ln/>
        </p:spPr>
      </p:sp>
      <p:sp>
        <p:nvSpPr>
          <p:cNvPr id="5" name="Text 3"/>
          <p:cNvSpPr/>
          <p:nvPr/>
        </p:nvSpPr>
        <p:spPr>
          <a:xfrm>
            <a:off x="548640" y="1508760"/>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1</a:t>
            </a:r>
            <a:endParaRPr lang="en-US" sz="1500" dirty="0"/>
          </a:p>
        </p:txBody>
      </p:sp>
      <p:sp>
        <p:nvSpPr>
          <p:cNvPr id="6" name="Shape 4"/>
          <p:cNvSpPr/>
          <p:nvPr/>
        </p:nvSpPr>
        <p:spPr>
          <a:xfrm>
            <a:off x="1143000" y="1508760"/>
            <a:ext cx="7452360" cy="752094"/>
          </a:xfrm>
          <a:prstGeom prst="roundRect">
            <a:avLst>
              <a:gd name="adj" fmla="val 6079"/>
            </a:avLst>
          </a:prstGeom>
          <a:solidFill>
            <a:srgbClr val="FFFFFF"/>
          </a:solidFill>
          <a:ln w="12700">
            <a:solidFill>
              <a:srgbClr val="DCE3E8"/>
            </a:solidFill>
            <a:prstDash val="solid"/>
          </a:ln>
        </p:spPr>
      </p:sp>
      <p:sp>
        <p:nvSpPr>
          <p:cNvPr id="7" name="Text 5"/>
          <p:cNvSpPr/>
          <p:nvPr/>
        </p:nvSpPr>
        <p:spPr>
          <a:xfrm>
            <a:off x="1371600" y="1508760"/>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Review the repository structure: github.com/joecupano/sovereign-sigint</a:t>
            </a:r>
            <a:endParaRPr lang="en-US" sz="1250" dirty="0"/>
          </a:p>
        </p:txBody>
      </p:sp>
      <p:sp>
        <p:nvSpPr>
          <p:cNvPr id="8" name="Shape 6"/>
          <p:cNvSpPr/>
          <p:nvPr/>
        </p:nvSpPr>
        <p:spPr>
          <a:xfrm>
            <a:off x="548640" y="2370582"/>
            <a:ext cx="457200" cy="752094"/>
          </a:xfrm>
          <a:prstGeom prst="roundRect">
            <a:avLst>
              <a:gd name="adj" fmla="val 12000"/>
            </a:avLst>
          </a:prstGeom>
          <a:solidFill>
            <a:srgbClr val="00A8CC"/>
          </a:solidFill>
          <a:ln/>
        </p:spPr>
      </p:sp>
      <p:sp>
        <p:nvSpPr>
          <p:cNvPr id="9" name="Text 7"/>
          <p:cNvSpPr/>
          <p:nvPr/>
        </p:nvSpPr>
        <p:spPr>
          <a:xfrm>
            <a:off x="548640" y="2370582"/>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2</a:t>
            </a:r>
            <a:endParaRPr lang="en-US" sz="1500" dirty="0"/>
          </a:p>
        </p:txBody>
      </p:sp>
      <p:sp>
        <p:nvSpPr>
          <p:cNvPr id="10" name="Shape 8"/>
          <p:cNvSpPr/>
          <p:nvPr/>
        </p:nvSpPr>
        <p:spPr>
          <a:xfrm>
            <a:off x="1143000" y="2370582"/>
            <a:ext cx="7452360" cy="752094"/>
          </a:xfrm>
          <a:prstGeom prst="roundRect">
            <a:avLst>
              <a:gd name="adj" fmla="val 6079"/>
            </a:avLst>
          </a:prstGeom>
          <a:solidFill>
            <a:srgbClr val="FFFFFF"/>
          </a:solidFill>
          <a:ln w="12700">
            <a:solidFill>
              <a:srgbClr val="DCE3E8"/>
            </a:solidFill>
            <a:prstDash val="solid"/>
          </a:ln>
        </p:spPr>
      </p:sp>
      <p:sp>
        <p:nvSpPr>
          <p:cNvPr id="11" name="Text 9"/>
          <p:cNvSpPr/>
          <p:nvPr/>
        </p:nvSpPr>
        <p:spPr>
          <a:xfrm>
            <a:off x="1371600" y="2370582"/>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Read docs/build-order.md — the Quickstart section and Phase overviews</a:t>
            </a:r>
            <a:endParaRPr lang="en-US" sz="1250" dirty="0"/>
          </a:p>
        </p:txBody>
      </p:sp>
      <p:sp>
        <p:nvSpPr>
          <p:cNvPr id="12" name="Shape 10"/>
          <p:cNvSpPr/>
          <p:nvPr/>
        </p:nvSpPr>
        <p:spPr>
          <a:xfrm>
            <a:off x="548640" y="3232404"/>
            <a:ext cx="457200" cy="752094"/>
          </a:xfrm>
          <a:prstGeom prst="roundRect">
            <a:avLst>
              <a:gd name="adj" fmla="val 12000"/>
            </a:avLst>
          </a:prstGeom>
          <a:solidFill>
            <a:srgbClr val="00A8CC"/>
          </a:solidFill>
          <a:ln/>
        </p:spPr>
      </p:sp>
      <p:sp>
        <p:nvSpPr>
          <p:cNvPr id="13" name="Text 11"/>
          <p:cNvSpPr/>
          <p:nvPr/>
        </p:nvSpPr>
        <p:spPr>
          <a:xfrm>
            <a:off x="548640" y="3232404"/>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3</a:t>
            </a:r>
            <a:endParaRPr lang="en-US" sz="1500" dirty="0"/>
          </a:p>
        </p:txBody>
      </p:sp>
      <p:sp>
        <p:nvSpPr>
          <p:cNvPr id="14" name="Shape 12"/>
          <p:cNvSpPr/>
          <p:nvPr/>
        </p:nvSpPr>
        <p:spPr>
          <a:xfrm>
            <a:off x="1143000" y="3232404"/>
            <a:ext cx="7452360" cy="752094"/>
          </a:xfrm>
          <a:prstGeom prst="roundRect">
            <a:avLst>
              <a:gd name="adj" fmla="val 6079"/>
            </a:avLst>
          </a:prstGeom>
          <a:solidFill>
            <a:srgbClr val="FFFFFF"/>
          </a:solidFill>
          <a:ln w="12700">
            <a:solidFill>
              <a:srgbClr val="DCE3E8"/>
            </a:solidFill>
            <a:prstDash val="solid"/>
          </a:ln>
        </p:spPr>
      </p:sp>
      <p:sp>
        <p:nvSpPr>
          <p:cNvPr id="15" name="Text 13"/>
          <p:cNvSpPr/>
          <p:nvPr/>
        </p:nvSpPr>
        <p:spPr>
          <a:xfrm>
            <a:off x="1371600" y="3232404"/>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Identify which hardware you have access to for your own build</a:t>
            </a:r>
            <a:endParaRPr lang="en-US" sz="1250" dirty="0"/>
          </a:p>
        </p:txBody>
      </p:sp>
      <p:sp>
        <p:nvSpPr>
          <p:cNvPr id="16" name="Shape 14"/>
          <p:cNvSpPr/>
          <p:nvPr/>
        </p:nvSpPr>
        <p:spPr>
          <a:xfrm>
            <a:off x="548640" y="4094226"/>
            <a:ext cx="457200" cy="752094"/>
          </a:xfrm>
          <a:prstGeom prst="roundRect">
            <a:avLst>
              <a:gd name="adj" fmla="val 12000"/>
            </a:avLst>
          </a:prstGeom>
          <a:solidFill>
            <a:srgbClr val="00A8CC"/>
          </a:solidFill>
          <a:ln/>
        </p:spPr>
      </p:sp>
      <p:sp>
        <p:nvSpPr>
          <p:cNvPr id="17" name="Text 15"/>
          <p:cNvSpPr/>
          <p:nvPr/>
        </p:nvSpPr>
        <p:spPr>
          <a:xfrm>
            <a:off x="548640" y="4094226"/>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4</a:t>
            </a:r>
            <a:endParaRPr lang="en-US" sz="1500" dirty="0"/>
          </a:p>
        </p:txBody>
      </p:sp>
      <p:sp>
        <p:nvSpPr>
          <p:cNvPr id="18" name="Shape 16"/>
          <p:cNvSpPr/>
          <p:nvPr/>
        </p:nvSpPr>
        <p:spPr>
          <a:xfrm>
            <a:off x="1143000" y="4094226"/>
            <a:ext cx="7452360" cy="752094"/>
          </a:xfrm>
          <a:prstGeom prst="roundRect">
            <a:avLst>
              <a:gd name="adj" fmla="val 6079"/>
            </a:avLst>
          </a:prstGeom>
          <a:solidFill>
            <a:srgbClr val="FFFFFF"/>
          </a:solidFill>
          <a:ln w="12700">
            <a:solidFill>
              <a:srgbClr val="DCE3E8"/>
            </a:solidFill>
            <a:prstDash val="solid"/>
          </a:ln>
        </p:spPr>
      </p:sp>
      <p:sp>
        <p:nvSpPr>
          <p:cNvPr id="19" name="Text 17"/>
          <p:cNvSpPr/>
          <p:nvPr/>
        </p:nvSpPr>
        <p:spPr>
          <a:xfrm>
            <a:off x="1371600" y="4094226"/>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Sketch the six-phase build order from memory, then check it against the repo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548640" y="365760"/>
            <a:ext cx="2377440" cy="457200"/>
          </a:xfrm>
          <a:prstGeom prst="roundRect">
            <a:avLst>
              <a:gd name="adj" fmla="val 50000"/>
            </a:avLst>
          </a:prstGeom>
          <a:solidFill>
            <a:srgbClr val="F4A300"/>
          </a:solidFill>
          <a:ln/>
        </p:spPr>
      </p:sp>
      <p:sp>
        <p:nvSpPr>
          <p:cNvPr id="3" name="Text 1"/>
          <p:cNvSpPr/>
          <p:nvPr/>
        </p:nvSpPr>
        <p:spPr>
          <a:xfrm>
            <a:off x="548640" y="365760"/>
            <a:ext cx="2377440" cy="457200"/>
          </a:xfrm>
          <a:prstGeom prst="rect">
            <a:avLst/>
          </a:prstGeom>
          <a:noFill/>
          <a:ln/>
        </p:spPr>
        <p:txBody>
          <a:bodyPr wrap="square" lIns="0" tIns="0" rIns="0" bIns="0" rtlCol="0" anchor="ctr"/>
          <a:lstStyle/>
          <a:p>
            <a:pPr algn="ctr" indent="0" marL="0">
              <a:buNone/>
            </a:pPr>
            <a:r>
              <a:rPr lang="en-US" sz="1300" b="1" spc="100" kern="0" dirty="0">
                <a:solidFill>
                  <a:srgbClr val="0B1929"/>
                </a:solidFill>
                <a:latin typeface="Calibri" pitchFamily="34" charset="0"/>
                <a:ea typeface="Calibri" pitchFamily="34" charset="-122"/>
                <a:cs typeface="Calibri" pitchFamily="34" charset="-120"/>
              </a:rPr>
              <a:t>REAL-WORLD BUG</a:t>
            </a:r>
            <a:endParaRPr lang="en-US" sz="1300" dirty="0"/>
          </a:p>
        </p:txBody>
      </p:sp>
      <p:sp>
        <p:nvSpPr>
          <p:cNvPr id="4" name="Text 2"/>
          <p:cNvSpPr/>
          <p:nvPr/>
        </p:nvSpPr>
        <p:spPr>
          <a:xfrm>
            <a:off x="548640" y="960120"/>
            <a:ext cx="8046720" cy="7772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 Note on How This Course Works</a:t>
            </a:r>
            <a:endParaRPr lang="en-US" sz="2400" dirty="0"/>
          </a:p>
        </p:txBody>
      </p:sp>
      <p:sp>
        <p:nvSpPr>
          <p:cNvPr id="5" name="Shape 3"/>
          <p:cNvSpPr/>
          <p:nvPr/>
        </p:nvSpPr>
        <p:spPr>
          <a:xfrm>
            <a:off x="548640" y="1828800"/>
            <a:ext cx="8046720" cy="3063240"/>
          </a:xfrm>
          <a:prstGeom prst="roundRect">
            <a:avLst>
              <a:gd name="adj" fmla="val 2388"/>
            </a:avLst>
          </a:prstGeom>
          <a:solidFill>
            <a:srgbClr val="13273D"/>
          </a:solidFill>
          <a:ln/>
        </p:spPr>
      </p:sp>
      <p:sp>
        <p:nvSpPr>
          <p:cNvPr id="6" name="Text 4"/>
          <p:cNvSpPr/>
          <p:nvPr/>
        </p:nvSpPr>
        <p:spPr>
          <a:xfrm>
            <a:off x="868680" y="2057400"/>
            <a:ext cx="7406640" cy="2651760"/>
          </a:xfrm>
          <a:prstGeom prst="rect">
            <a:avLst/>
          </a:prstGeom>
          <a:noFill/>
          <a:ln/>
        </p:spPr>
        <p:txBody>
          <a:bodyPr wrap="square" lIns="0" tIns="0" rIns="0" bIns="0" rtlCol="0" anchor="t"/>
          <a:lstStyle/>
          <a:p>
            <a:pPr indent="0" marL="0">
              <a:lnSpc>
                <a:spcPct val="125000"/>
              </a:lnSpc>
              <a:buNone/>
            </a:pPr>
            <a:r>
              <a:rPr lang="en-US" sz="1350" dirty="0">
                <a:solidFill>
                  <a:srgbClr val="F7F9FA"/>
                </a:solidFill>
                <a:latin typeface="Calibri" pitchFamily="34" charset="0"/>
                <a:ea typeface="Calibri" pitchFamily="34" charset="-122"/>
                <a:cs typeface="Calibri" pitchFamily="34" charset="-120"/>
              </a:rPr>
              <a:t>Every subsequent lab documents a real problem encountered on real hardware — package renames between Ubuntu versions, permission gaps between system users, rate limits on external APIs, sensitivity/gain settings that only reveal themselves with an antenna connected. This is intentional. Production systems fail in exactly these ways, and learning to diagnose them is the actual skill this course teaches — not memorizing a command sequence that only works once.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BEFORE MOVING 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Exit Criteria for This Session</a:t>
            </a:r>
            <a:endParaRPr lang="en-US" sz="2800" dirty="0"/>
          </a:p>
        </p:txBody>
      </p:sp>
      <p:sp>
        <p:nvSpPr>
          <p:cNvPr id="4" name="Shape 2"/>
          <p:cNvSpPr/>
          <p:nvPr/>
        </p:nvSpPr>
        <p:spPr>
          <a:xfrm>
            <a:off x="548640" y="155448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5" name="Shape 3"/>
          <p:cNvSpPr/>
          <p:nvPr/>
        </p:nvSpPr>
        <p:spPr>
          <a:xfrm>
            <a:off x="777240" y="1914144"/>
            <a:ext cx="256032" cy="256032"/>
          </a:xfrm>
          <a:prstGeom prst="ellipse">
            <a:avLst/>
          </a:prstGeom>
          <a:solidFill>
            <a:srgbClr val="00A8CC"/>
          </a:solidFill>
          <a:ln/>
        </p:spPr>
      </p:sp>
      <p:sp>
        <p:nvSpPr>
          <p:cNvPr id="6" name="Text 4"/>
          <p:cNvSpPr/>
          <p:nvPr/>
        </p:nvSpPr>
        <p:spPr>
          <a:xfrm>
            <a:off x="1234440" y="155448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Can explain, in one sentence each, what Sovereign AI and SIGINT mean in this context</a:t>
            </a:r>
            <a:endParaRPr lang="en-US" sz="1450" dirty="0"/>
          </a:p>
        </p:txBody>
      </p:sp>
      <p:sp>
        <p:nvSpPr>
          <p:cNvPr id="7" name="Shape 5"/>
          <p:cNvSpPr/>
          <p:nvPr/>
        </p:nvSpPr>
        <p:spPr>
          <a:xfrm>
            <a:off x="548640" y="271272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8" name="Shape 6"/>
          <p:cNvSpPr/>
          <p:nvPr/>
        </p:nvSpPr>
        <p:spPr>
          <a:xfrm>
            <a:off x="777240" y="3072384"/>
            <a:ext cx="256032" cy="256032"/>
          </a:xfrm>
          <a:prstGeom prst="ellipse">
            <a:avLst/>
          </a:prstGeom>
          <a:solidFill>
            <a:srgbClr val="00A8CC"/>
          </a:solidFill>
          <a:ln/>
        </p:spPr>
      </p:sp>
      <p:sp>
        <p:nvSpPr>
          <p:cNvPr id="9" name="Text 7"/>
          <p:cNvSpPr/>
          <p:nvPr/>
        </p:nvSpPr>
        <p:spPr>
          <a:xfrm>
            <a:off x="1234440" y="271272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Can name the six build phases in order</a:t>
            </a:r>
            <a:endParaRPr lang="en-US" sz="1450" dirty="0"/>
          </a:p>
        </p:txBody>
      </p:sp>
      <p:sp>
        <p:nvSpPr>
          <p:cNvPr id="10" name="Shape 8"/>
          <p:cNvSpPr/>
          <p:nvPr/>
        </p:nvSpPr>
        <p:spPr>
          <a:xfrm>
            <a:off x="548640" y="387096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11" name="Shape 9"/>
          <p:cNvSpPr/>
          <p:nvPr/>
        </p:nvSpPr>
        <p:spPr>
          <a:xfrm>
            <a:off x="777240" y="4230624"/>
            <a:ext cx="256032" cy="256032"/>
          </a:xfrm>
          <a:prstGeom prst="ellipse">
            <a:avLst/>
          </a:prstGeom>
          <a:solidFill>
            <a:srgbClr val="00A8CC"/>
          </a:solidFill>
          <a:ln/>
        </p:spPr>
      </p:sp>
      <p:sp>
        <p:nvSpPr>
          <p:cNvPr id="12" name="Text 10"/>
          <p:cNvSpPr/>
          <p:nvPr/>
        </p:nvSpPr>
        <p:spPr>
          <a:xfrm>
            <a:off x="1234440" y="387096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Has cloned or has access to the sovereign-sigint repository</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GROUP DISCUSSION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Discussion Questions</a:t>
            </a:r>
            <a:endParaRPr lang="en-US" sz="2800" dirty="0"/>
          </a:p>
        </p:txBody>
      </p:sp>
      <p:sp>
        <p:nvSpPr>
          <p:cNvPr id="4" name="Text 2"/>
          <p:cNvSpPr/>
          <p:nvPr/>
        </p:nvSpPr>
        <p:spPr>
          <a:xfrm>
            <a:off x="548640" y="160020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Q1</a:t>
            </a:r>
            <a:endParaRPr lang="en-US" sz="2200" dirty="0"/>
          </a:p>
        </p:txBody>
      </p:sp>
      <p:sp>
        <p:nvSpPr>
          <p:cNvPr id="5" name="Shape 3"/>
          <p:cNvSpPr/>
          <p:nvPr/>
        </p:nvSpPr>
        <p:spPr>
          <a:xfrm>
            <a:off x="1280160" y="160020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6" name="Text 4"/>
          <p:cNvSpPr/>
          <p:nvPr/>
        </p:nvSpPr>
        <p:spPr>
          <a:xfrm>
            <a:off x="1508760" y="160020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What are the tradeoffs of sovereign/local AI versus a cloud API, for a security-sensitive organization?</a:t>
            </a:r>
            <a:endParaRPr lang="en-US" sz="1400" dirty="0"/>
          </a:p>
        </p:txBody>
      </p:sp>
      <p:sp>
        <p:nvSpPr>
          <p:cNvPr id="7" name="Text 5"/>
          <p:cNvSpPr/>
          <p:nvPr/>
        </p:nvSpPr>
        <p:spPr>
          <a:xfrm>
            <a:off x="548640" y="275844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Q2</a:t>
            </a:r>
            <a:endParaRPr lang="en-US" sz="2200" dirty="0"/>
          </a:p>
        </p:txBody>
      </p:sp>
      <p:sp>
        <p:nvSpPr>
          <p:cNvPr id="8" name="Shape 6"/>
          <p:cNvSpPr/>
          <p:nvPr/>
        </p:nvSpPr>
        <p:spPr>
          <a:xfrm>
            <a:off x="1280160" y="275844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9" name="Text 7"/>
          <p:cNvSpPr/>
          <p:nvPr/>
        </p:nvSpPr>
        <p:spPr>
          <a:xfrm>
            <a:off x="1508760" y="275844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Why might a course combine AI infrastructure with amateur radio/SIGINT skills specifically?</a:t>
            </a:r>
            <a:endParaRPr lang="en-US" sz="1400" dirty="0"/>
          </a:p>
        </p:txBody>
      </p:sp>
      <p:sp>
        <p:nvSpPr>
          <p:cNvPr id="10" name="Text 8"/>
          <p:cNvSpPr/>
          <p:nvPr/>
        </p:nvSpPr>
        <p:spPr>
          <a:xfrm>
            <a:off x="548640" y="391668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Q3</a:t>
            </a:r>
            <a:endParaRPr lang="en-US" sz="2200" dirty="0"/>
          </a:p>
        </p:txBody>
      </p:sp>
      <p:sp>
        <p:nvSpPr>
          <p:cNvPr id="11" name="Shape 9"/>
          <p:cNvSpPr/>
          <p:nvPr/>
        </p:nvSpPr>
        <p:spPr>
          <a:xfrm>
            <a:off x="1280160" y="391668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12" name="Text 10"/>
          <p:cNvSpPr/>
          <p:nvPr/>
        </p:nvSpPr>
        <p:spPr>
          <a:xfrm>
            <a:off x="1508760" y="391668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What hardware constraints do you expect to hit first, given your own available equipment?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3291840"/>
            <a:ext cx="9144000" cy="457200"/>
          </a:xfrm>
          <a:prstGeom prst="rect">
            <a:avLst/>
          </a:prstGeom>
          <a:solidFill>
            <a:srgbClr val="00A8CC">
              <a:alpha val="14000"/>
            </a:srgbClr>
          </a:solidFill>
          <a:ln/>
        </p:spPr>
      </p:sp>
      <p:sp>
        <p:nvSpPr>
          <p:cNvPr id="3" name="Shape 1"/>
          <p:cNvSpPr/>
          <p:nvPr/>
        </p:nvSpPr>
        <p:spPr>
          <a:xfrm>
            <a:off x="0" y="3794760"/>
            <a:ext cx="9144000" cy="457200"/>
          </a:xfrm>
          <a:prstGeom prst="rect">
            <a:avLst/>
          </a:prstGeom>
          <a:solidFill>
            <a:srgbClr val="00A8CC">
              <a:alpha val="28000"/>
            </a:srgbClr>
          </a:solidFill>
          <a:ln/>
        </p:spPr>
      </p:sp>
      <p:sp>
        <p:nvSpPr>
          <p:cNvPr id="4" name="Shape 2"/>
          <p:cNvSpPr/>
          <p:nvPr/>
        </p:nvSpPr>
        <p:spPr>
          <a:xfrm>
            <a:off x="0" y="4297680"/>
            <a:ext cx="9144000" cy="457200"/>
          </a:xfrm>
          <a:prstGeom prst="rect">
            <a:avLst/>
          </a:prstGeom>
          <a:solidFill>
            <a:srgbClr val="00A8CC">
              <a:alpha val="45000"/>
            </a:srgbClr>
          </a:solidFill>
          <a:ln/>
        </p:spPr>
      </p:sp>
      <p:sp>
        <p:nvSpPr>
          <p:cNvPr id="5" name="Shape 3"/>
          <p:cNvSpPr/>
          <p:nvPr/>
        </p:nvSpPr>
        <p:spPr>
          <a:xfrm>
            <a:off x="0" y="4800600"/>
            <a:ext cx="9144000" cy="457200"/>
          </a:xfrm>
          <a:prstGeom prst="rect">
            <a:avLst/>
          </a:prstGeom>
          <a:solidFill>
            <a:srgbClr val="00A8CC">
              <a:alpha val="65000"/>
            </a:srgbClr>
          </a:solidFill>
          <a:ln/>
        </p:spPr>
      </p:sp>
      <p:sp>
        <p:nvSpPr>
          <p:cNvPr id="6" name="Text 4"/>
          <p:cNvSpPr/>
          <p:nvPr/>
        </p:nvSpPr>
        <p:spPr>
          <a:xfrm>
            <a:off x="548640" y="640080"/>
            <a:ext cx="8046720" cy="365760"/>
          </a:xfrm>
          <a:prstGeom prst="rect">
            <a:avLst/>
          </a:prstGeom>
          <a:noFill/>
          <a:ln/>
        </p:spPr>
        <p:txBody>
          <a:bodyPr wrap="square" lIns="0" tIns="0" rIns="0" bIns="0" rtlCol="0" anchor="ctr"/>
          <a:lstStyle/>
          <a:p>
            <a:pPr indent="0" marL="0">
              <a:buNone/>
            </a:pPr>
            <a:r>
              <a:rPr lang="en-US" sz="1400" b="1" spc="200" kern="0" dirty="0">
                <a:solidFill>
                  <a:srgbClr val="F4A300"/>
                </a:solidFill>
                <a:latin typeface="Calibri" pitchFamily="34" charset="0"/>
                <a:ea typeface="Calibri" pitchFamily="34" charset="-122"/>
                <a:cs typeface="Calibri" pitchFamily="34" charset="-120"/>
              </a:rPr>
              <a:t>NEXT SESSION</a:t>
            </a:r>
            <a:endParaRPr lang="en-US" sz="1400" dirty="0"/>
          </a:p>
        </p:txBody>
      </p:sp>
      <p:sp>
        <p:nvSpPr>
          <p:cNvPr id="7" name="Text 5"/>
          <p:cNvSpPr/>
          <p:nvPr/>
        </p:nvSpPr>
        <p:spPr>
          <a:xfrm>
            <a:off x="548640" y="1051560"/>
            <a:ext cx="8046720" cy="1828800"/>
          </a:xfrm>
          <a:prstGeom prst="rect">
            <a:avLst/>
          </a:prstGeom>
          <a:noFill/>
          <a:ln/>
        </p:spPr>
        <p:txBody>
          <a:bodyPr wrap="square" lIns="0" tIns="0" rIns="0" bIns="0" rtlCol="0" anchor="ctr"/>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Phase 1 — Hardware and Drivers: standalone validation of every SDR device before any application touches it.</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Sovereign SIGINT</dc:title>
  <dc:subject>PptxGenJS Presentation</dc:subject>
  <dc:creator>Sovereign SIGINT Course</dc:creator>
  <cp:lastModifiedBy>Sovereign SIGINT Course</cp:lastModifiedBy>
  <cp:revision>1</cp:revision>
  <dcterms:created xsi:type="dcterms:W3CDTF">2026-07-22T07:08:30Z</dcterms:created>
  <dcterms:modified xsi:type="dcterms:W3CDTF">2026-07-22T07:08:30Z</dcterms:modified>
</cp:coreProperties>
</file>