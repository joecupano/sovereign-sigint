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A8CC">
              <a:alpha val="85000"/>
            </a:srgbClr>
          </a:solidFill>
          <a:ln/>
        </p:spPr>
      </p:sp>
      <p:sp>
        <p:nvSpPr>
          <p:cNvPr id="3" name="Shape 1"/>
          <p:cNvSpPr/>
          <p:nvPr/>
        </p:nvSpPr>
        <p:spPr>
          <a:xfrm>
            <a:off x="0" y="502920"/>
            <a:ext cx="9144000" cy="457200"/>
          </a:xfrm>
          <a:prstGeom prst="rect">
            <a:avLst/>
          </a:prstGeom>
          <a:solidFill>
            <a:srgbClr val="00A8CC">
              <a:alpha val="65000"/>
            </a:srgbClr>
          </a:solidFill>
          <a:ln/>
        </p:spPr>
      </p:sp>
      <p:sp>
        <p:nvSpPr>
          <p:cNvPr id="4" name="Shape 2"/>
          <p:cNvSpPr/>
          <p:nvPr/>
        </p:nvSpPr>
        <p:spPr>
          <a:xfrm>
            <a:off x="0" y="1005840"/>
            <a:ext cx="9144000" cy="457200"/>
          </a:xfrm>
          <a:prstGeom prst="rect">
            <a:avLst/>
          </a:prstGeom>
          <a:solidFill>
            <a:srgbClr val="00A8CC">
              <a:alpha val="45000"/>
            </a:srgbClr>
          </a:solidFill>
          <a:ln/>
        </p:spPr>
      </p:sp>
      <p:sp>
        <p:nvSpPr>
          <p:cNvPr id="5" name="Shape 3"/>
          <p:cNvSpPr/>
          <p:nvPr/>
        </p:nvSpPr>
        <p:spPr>
          <a:xfrm>
            <a:off x="0" y="1508760"/>
            <a:ext cx="9144000" cy="457200"/>
          </a:xfrm>
          <a:prstGeom prst="rect">
            <a:avLst/>
          </a:prstGeom>
          <a:solidFill>
            <a:srgbClr val="00A8CC">
              <a:alpha val="28000"/>
            </a:srgbClr>
          </a:solidFill>
          <a:ln/>
        </p:spPr>
      </p:sp>
      <p:sp>
        <p:nvSpPr>
          <p:cNvPr id="6" name="Shape 4"/>
          <p:cNvSpPr/>
          <p:nvPr/>
        </p:nvSpPr>
        <p:spPr>
          <a:xfrm>
            <a:off x="0" y="2011680"/>
            <a:ext cx="9144000" cy="457200"/>
          </a:xfrm>
          <a:prstGeom prst="rect">
            <a:avLst/>
          </a:prstGeom>
          <a:solidFill>
            <a:srgbClr val="00A8CC">
              <a:alpha val="14000"/>
            </a:srgbClr>
          </a:solidFill>
          <a:ln/>
        </p:spPr>
      </p:sp>
      <p:sp>
        <p:nvSpPr>
          <p:cNvPr id="7" name="Text 5"/>
          <p:cNvSpPr/>
          <p:nvPr/>
        </p:nvSpPr>
        <p:spPr>
          <a:xfrm>
            <a:off x="548640" y="2331720"/>
            <a:ext cx="8046720" cy="457200"/>
          </a:xfrm>
          <a:prstGeom prst="rect">
            <a:avLst/>
          </a:prstGeom>
          <a:noFill/>
          <a:ln/>
        </p:spPr>
        <p:txBody>
          <a:bodyPr wrap="square" lIns="0" tIns="0" rIns="0" bIns="0" rtlCol="0" anchor="ctr"/>
          <a:lstStyle/>
          <a:p>
            <a:pPr indent="0" marL="0">
              <a:buNone/>
            </a:pPr>
            <a:r>
              <a:rPr lang="en-US" sz="1600" b="1" spc="300" kern="0" dirty="0">
                <a:solidFill>
                  <a:srgbClr val="F4A300"/>
                </a:solidFill>
                <a:latin typeface="Calibri" pitchFamily="34" charset="0"/>
                <a:ea typeface="Calibri" pitchFamily="34" charset="-122"/>
                <a:cs typeface="Calibri" pitchFamily="34" charset="-120"/>
              </a:rPr>
              <a:t>LAB 11</a:t>
            </a:r>
            <a:endParaRPr lang="en-US" sz="1600" dirty="0"/>
          </a:p>
        </p:txBody>
      </p:sp>
      <p:sp>
        <p:nvSpPr>
          <p:cNvPr id="8" name="Text 6"/>
          <p:cNvSpPr/>
          <p:nvPr/>
        </p:nvSpPr>
        <p:spPr>
          <a:xfrm>
            <a:off x="548640" y="2743200"/>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Phase 6.6 — Occupancy Database</a:t>
            </a:r>
            <a:endParaRPr lang="en-US" sz="4000" dirty="0"/>
          </a:p>
        </p:txBody>
      </p:sp>
      <p:sp>
        <p:nvSpPr>
          <p:cNvPr id="9" name="Text 7"/>
          <p:cNvSpPr/>
          <p:nvPr/>
        </p:nvSpPr>
        <p:spPr>
          <a:xfrm>
            <a:off x="548640" y="3840480"/>
            <a:ext cx="8046720" cy="640080"/>
          </a:xfrm>
          <a:prstGeom prst="rect">
            <a:avLst/>
          </a:prstGeom>
          <a:noFill/>
          <a:ln/>
        </p:spPr>
        <p:txBody>
          <a:bodyPr wrap="square" lIns="0" tIns="0" rIns="0" bIns="0" rtlCol="0" anchor="ctr"/>
          <a:lstStyle/>
          <a:p>
            <a:pPr indent="0" marL="0">
              <a:buNone/>
            </a:pPr>
            <a:r>
              <a:rPr lang="en-US" sz="1800" i="1" dirty="0">
                <a:solidFill>
                  <a:srgbClr val="00A8CC"/>
                </a:solidFill>
                <a:latin typeface="Calibri" pitchFamily="34" charset="0"/>
                <a:ea typeface="Calibri" pitchFamily="34" charset="-122"/>
                <a:cs typeface="Calibri" pitchFamily="34" charset="-120"/>
              </a:rPr>
              <a:t>A Kismet-inspired schema, and turning RF energy into queryable data</a:t>
            </a:r>
            <a:endParaRPr lang="en-US" sz="1800" dirty="0"/>
          </a:p>
        </p:txBody>
      </p:sp>
      <p:sp>
        <p:nvSpPr>
          <p:cNvPr id="10" name="Text 8"/>
          <p:cNvSpPr/>
          <p:nvPr/>
        </p:nvSpPr>
        <p:spPr>
          <a:xfrm>
            <a:off x="548640" y="4709160"/>
            <a:ext cx="8046720" cy="320040"/>
          </a:xfrm>
          <a:prstGeom prst="rect">
            <a:avLst/>
          </a:prstGeom>
          <a:noFill/>
          <a:ln/>
        </p:spPr>
        <p:txBody>
          <a:bodyPr wrap="square" lIns="0" tIns="0" rIns="0" bIns="0" rtlCol="0" anchor="ctr"/>
          <a:lstStyle/>
          <a:p>
            <a:pPr indent="0" marL="0">
              <a:buNone/>
            </a:pPr>
            <a:r>
              <a:rPr lang="en-US" sz="1100" dirty="0">
                <a:solidFill>
                  <a:srgbClr val="5C7080"/>
                </a:solidFill>
                <a:latin typeface="Calibri" pitchFamily="34" charset="0"/>
                <a:ea typeface="Calibri" pitchFamily="34" charset="-122"/>
                <a:cs typeface="Calibri" pitchFamily="34" charset="-120"/>
              </a:rPr>
              <a:t>Sovereign SIGINT — College Lab Series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SESSION OVERVIEW</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Learning Objectives</a:t>
            </a:r>
            <a:endParaRPr lang="en-US" sz="2800" dirty="0"/>
          </a:p>
        </p:txBody>
      </p:sp>
      <p:sp>
        <p:nvSpPr>
          <p:cNvPr id="4" name="Shape 2"/>
          <p:cNvSpPr/>
          <p:nvPr/>
        </p:nvSpPr>
        <p:spPr>
          <a:xfrm>
            <a:off x="548640" y="1844802"/>
            <a:ext cx="402336" cy="402336"/>
          </a:xfrm>
          <a:prstGeom prst="ellipse">
            <a:avLst/>
          </a:prstGeom>
          <a:solidFill>
            <a:srgbClr val="0B1929"/>
          </a:solidFill>
          <a:ln/>
        </p:spPr>
      </p:sp>
      <p:sp>
        <p:nvSpPr>
          <p:cNvPr id="5" name="Text 3"/>
          <p:cNvSpPr/>
          <p:nvPr/>
        </p:nvSpPr>
        <p:spPr>
          <a:xfrm>
            <a:off x="548640" y="184480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143000" y="155448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7" name="Text 5"/>
          <p:cNvSpPr/>
          <p:nvPr/>
        </p:nvSpPr>
        <p:spPr>
          <a:xfrm>
            <a:off x="1371600" y="155448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Design an occupancy database schema using Kismet's proven pattern as a reference, not a standard to copy blindly</a:t>
            </a:r>
            <a:endParaRPr lang="en-US" sz="1500" dirty="0"/>
          </a:p>
        </p:txBody>
      </p:sp>
      <p:sp>
        <p:nvSpPr>
          <p:cNvPr id="8" name="Shape 6"/>
          <p:cNvSpPr/>
          <p:nvPr/>
        </p:nvSpPr>
        <p:spPr>
          <a:xfrm>
            <a:off x="548640" y="2964942"/>
            <a:ext cx="402336" cy="402336"/>
          </a:xfrm>
          <a:prstGeom prst="ellipse">
            <a:avLst/>
          </a:prstGeom>
          <a:solidFill>
            <a:srgbClr val="0B1929"/>
          </a:solidFill>
          <a:ln/>
        </p:spPr>
      </p:sp>
      <p:sp>
        <p:nvSpPr>
          <p:cNvPr id="9" name="Text 7"/>
          <p:cNvSpPr/>
          <p:nvPr/>
        </p:nvSpPr>
        <p:spPr>
          <a:xfrm>
            <a:off x="548640" y="296494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1143000" y="267462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11" name="Text 9"/>
          <p:cNvSpPr/>
          <p:nvPr/>
        </p:nvSpPr>
        <p:spPr>
          <a:xfrm>
            <a:off x="1371600" y="267462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Understand the real adaptation needed when RF signals lack a durable identity the way MAC addresses give WiFi devices</a:t>
            </a:r>
            <a:endParaRPr lang="en-US" sz="1500" dirty="0"/>
          </a:p>
        </p:txBody>
      </p:sp>
      <p:sp>
        <p:nvSpPr>
          <p:cNvPr id="12" name="Shape 10"/>
          <p:cNvSpPr/>
          <p:nvPr/>
        </p:nvSpPr>
        <p:spPr>
          <a:xfrm>
            <a:off x="548640" y="4085082"/>
            <a:ext cx="402336" cy="402336"/>
          </a:xfrm>
          <a:prstGeom prst="ellipse">
            <a:avLst/>
          </a:prstGeom>
          <a:solidFill>
            <a:srgbClr val="0B1929"/>
          </a:solidFill>
          <a:ln/>
        </p:spPr>
      </p:sp>
      <p:sp>
        <p:nvSpPr>
          <p:cNvPr id="13" name="Text 11"/>
          <p:cNvSpPr/>
          <p:nvPr/>
        </p:nvSpPr>
        <p:spPr>
          <a:xfrm>
            <a:off x="548640" y="408508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3</a:t>
            </a:r>
            <a:endParaRPr lang="en-US" sz="1600" dirty="0"/>
          </a:p>
        </p:txBody>
      </p:sp>
      <p:sp>
        <p:nvSpPr>
          <p:cNvPr id="14" name="Shape 12"/>
          <p:cNvSpPr/>
          <p:nvPr/>
        </p:nvSpPr>
        <p:spPr>
          <a:xfrm>
            <a:off x="1143000" y="379476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15" name="Text 13"/>
          <p:cNvSpPr/>
          <p:nvPr/>
        </p:nvSpPr>
        <p:spPr>
          <a:xfrm>
            <a:off x="1371600" y="379476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Run and calibrate the two real occupancy producers — radiod (continuous HF) and the device-flexible HackRF/RTL-SDR key-frequency producer (on-demand VHF/UHF) — that actually populate the database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What 'Occupancy' Means Here</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Standard RF/spectrum-management terminology: is a given frequency in use, over what time window, at what duration — not signal classification, not raw detection, specifically frequency+time+duration of use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No single existing standard defines a machine-readable RECORD format for this the way SigMF standardizes IQ captures</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Kismet's kismetdb schema is the closest real, proven precedent — not because it's a broad interoperability standard (it isn't; other tools consume Kismet's EXPORTS, not its native format directly), but because its DEVICES/PACKETS split is a directly analogous, battle-tested pattern</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SYSTEM DESIGN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signals + sightings, Adapted From DEVICES + PACKETS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sightings (-&gt; Kismet's PACKETS): one row per detection event — lean columns for fast queries</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signals (-&gt; Kismet's DEVICES): a long-lived aggregate, keyed by frequency (binned) + mode — substituting for the durable MAC address identity that RF signals generally don't have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Paired epoch-seconds + milliseconds timestamp fields, matching Kismet's actual convention (mirrors C's tv_sec/tv_usec struct split) — deliberately NOT a single combined millisecond integer</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Zero dependencies beyond the Python standard library — any future producer, regardless of venv or system-Python context, can call directly into it</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DESIGN RATIONALE</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Key Design Decisions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SQLite with WAL journaling + busy_timeout, so multiple producers write concurrently without contention — this is what lets radiod stream continuously while the on-demand VHF/UHF producer writes at the same time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FREQUENCY_BIN_HZ (a placeholder value) determines how close two reported frequencies must be to count as 'the same signal' — explicitly flagged as needing real-world tuning, not asserted as correct</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Two producers actually populate the DB, each calling the same record_sighting(): radiod (continuous, ~17 demodulated HF channels, first to populate it) and one device-flexible key-frequency producer that drives either the HackRF (primary, Comet GP-1 antenna) or the RTL-SDR (backup, broadband antenna) on-demand for VHF/UHF. The older GNU Radio single-frequency monitors were never hardware-validated and are superseded by this producer.</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Each producer/device carries its OWN calibrated threshold, because each has a different noise floor and even opposite gain behavior — see the calibration lesson below</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HANDS-ON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Hands-On Lab</a:t>
            </a:r>
            <a:endParaRPr lang="en-US" sz="2800" dirty="0"/>
          </a:p>
        </p:txBody>
      </p:sp>
      <p:sp>
        <p:nvSpPr>
          <p:cNvPr id="4" name="Shape 2"/>
          <p:cNvSpPr/>
          <p:nvPr/>
        </p:nvSpPr>
        <p:spPr>
          <a:xfrm>
            <a:off x="548640" y="1508760"/>
            <a:ext cx="457200" cy="579730"/>
          </a:xfrm>
          <a:prstGeom prst="roundRect">
            <a:avLst>
              <a:gd name="adj" fmla="val 12000"/>
            </a:avLst>
          </a:prstGeom>
          <a:solidFill>
            <a:srgbClr val="00A8CC"/>
          </a:solidFill>
          <a:ln/>
        </p:spPr>
      </p:sp>
      <p:sp>
        <p:nvSpPr>
          <p:cNvPr id="5" name="Text 3"/>
          <p:cNvSpPr/>
          <p:nvPr/>
        </p:nvSpPr>
        <p:spPr>
          <a:xfrm>
            <a:off x="548640" y="1508760"/>
            <a:ext cx="457200" cy="579730"/>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1143000" y="1508760"/>
            <a:ext cx="7452360" cy="579730"/>
          </a:xfrm>
          <a:prstGeom prst="roundRect">
            <a:avLst>
              <a:gd name="adj" fmla="val 7886"/>
            </a:avLst>
          </a:prstGeom>
          <a:solidFill>
            <a:srgbClr val="FFFFFF"/>
          </a:solidFill>
          <a:ln w="12700">
            <a:solidFill>
              <a:srgbClr val="DCE3E8"/>
            </a:solidFill>
            <a:prstDash val="solid"/>
          </a:ln>
        </p:spPr>
      </p:sp>
      <p:sp>
        <p:nvSpPr>
          <p:cNvPr id="7" name="Text 5"/>
          <p:cNvSpPr/>
          <p:nvPr/>
        </p:nvSpPr>
        <p:spPr>
          <a:xfrm>
            <a:off x="1371600" y="1508760"/>
            <a:ext cx="6949440" cy="579730"/>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./scripts/phase6-occupancy-db-validate.sh — confirms schema, frequency-binning, and aggregate tracking with real functional tests</a:t>
            </a:r>
            <a:endParaRPr lang="en-US" sz="1250" dirty="0"/>
          </a:p>
        </p:txBody>
      </p:sp>
      <p:sp>
        <p:nvSpPr>
          <p:cNvPr id="8" name="Shape 6"/>
          <p:cNvSpPr/>
          <p:nvPr/>
        </p:nvSpPr>
        <p:spPr>
          <a:xfrm>
            <a:off x="548640" y="2198218"/>
            <a:ext cx="457200" cy="579730"/>
          </a:xfrm>
          <a:prstGeom prst="roundRect">
            <a:avLst>
              <a:gd name="adj" fmla="val 12000"/>
            </a:avLst>
          </a:prstGeom>
          <a:solidFill>
            <a:srgbClr val="00A8CC"/>
          </a:solidFill>
          <a:ln/>
        </p:spPr>
      </p:sp>
      <p:sp>
        <p:nvSpPr>
          <p:cNvPr id="9" name="Text 7"/>
          <p:cNvSpPr/>
          <p:nvPr/>
        </p:nvSpPr>
        <p:spPr>
          <a:xfrm>
            <a:off x="548640" y="2198218"/>
            <a:ext cx="457200" cy="579730"/>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2</a:t>
            </a:r>
            <a:endParaRPr lang="en-US" sz="1500" dirty="0"/>
          </a:p>
        </p:txBody>
      </p:sp>
      <p:sp>
        <p:nvSpPr>
          <p:cNvPr id="10" name="Shape 8"/>
          <p:cNvSpPr/>
          <p:nvPr/>
        </p:nvSpPr>
        <p:spPr>
          <a:xfrm>
            <a:off x="1143000" y="2198218"/>
            <a:ext cx="7452360" cy="579730"/>
          </a:xfrm>
          <a:prstGeom prst="roundRect">
            <a:avLst>
              <a:gd name="adj" fmla="val 7886"/>
            </a:avLst>
          </a:prstGeom>
          <a:solidFill>
            <a:srgbClr val="FFFFFF"/>
          </a:solidFill>
          <a:ln w="12700">
            <a:solidFill>
              <a:srgbClr val="DCE3E8"/>
            </a:solidFill>
            <a:prstDash val="solid"/>
          </a:ln>
        </p:spPr>
      </p:sp>
      <p:sp>
        <p:nvSpPr>
          <p:cNvPr id="11" name="Text 9"/>
          <p:cNvSpPr/>
          <p:nvPr/>
        </p:nvSpPr>
        <p:spPr>
          <a:xfrm>
            <a:off x="1371600" y="2198218"/>
            <a:ext cx="6949440" cy="579730"/>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Confirm the continuous radiod occupancy producer is running (systemd --user radiod-occupancy.service) and has populated the DB — this is the source that first filled it</a:t>
            </a:r>
            <a:endParaRPr lang="en-US" sz="1250" dirty="0"/>
          </a:p>
        </p:txBody>
      </p:sp>
      <p:sp>
        <p:nvSpPr>
          <p:cNvPr id="12" name="Shape 10"/>
          <p:cNvSpPr/>
          <p:nvPr/>
        </p:nvSpPr>
        <p:spPr>
          <a:xfrm>
            <a:off x="548640" y="2887675"/>
            <a:ext cx="457200" cy="579730"/>
          </a:xfrm>
          <a:prstGeom prst="roundRect">
            <a:avLst>
              <a:gd name="adj" fmla="val 12000"/>
            </a:avLst>
          </a:prstGeom>
          <a:solidFill>
            <a:srgbClr val="00A8CC"/>
          </a:solidFill>
          <a:ln/>
        </p:spPr>
      </p:sp>
      <p:sp>
        <p:nvSpPr>
          <p:cNvPr id="13" name="Text 11"/>
          <p:cNvSpPr/>
          <p:nvPr/>
        </p:nvSpPr>
        <p:spPr>
          <a:xfrm>
            <a:off x="548640" y="2887675"/>
            <a:ext cx="457200" cy="579730"/>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3</a:t>
            </a:r>
            <a:endParaRPr lang="en-US" sz="1500" dirty="0"/>
          </a:p>
        </p:txBody>
      </p:sp>
      <p:sp>
        <p:nvSpPr>
          <p:cNvPr id="14" name="Shape 12"/>
          <p:cNvSpPr/>
          <p:nvPr/>
        </p:nvSpPr>
        <p:spPr>
          <a:xfrm>
            <a:off x="1143000" y="2887675"/>
            <a:ext cx="7452360" cy="579730"/>
          </a:xfrm>
          <a:prstGeom prst="roundRect">
            <a:avLst>
              <a:gd name="adj" fmla="val 7886"/>
            </a:avLst>
          </a:prstGeom>
          <a:solidFill>
            <a:srgbClr val="FFFFFF"/>
          </a:solidFill>
          <a:ln w="12700">
            <a:solidFill>
              <a:srgbClr val="DCE3E8"/>
            </a:solidFill>
            <a:prstDash val="solid"/>
          </a:ln>
        </p:spPr>
      </p:sp>
      <p:sp>
        <p:nvSpPr>
          <p:cNvPr id="15" name="Text 13"/>
          <p:cNvSpPr/>
          <p:nvPr/>
        </p:nvSpPr>
        <p:spPr>
          <a:xfrm>
            <a:off x="1371600" y="2887675"/>
            <a:ext cx="6949440" cy="579730"/>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Run the VHF/UHF key-frequency producer on-demand against real hardware: python3 decode/vhf_uhf_key_freq_producer.py --device hackrf --once --verbose (or --device rtlsdr) — observe the per-channel dBFS readings and the quiet/ACTIVE split</a:t>
            </a:r>
            <a:endParaRPr lang="en-US" sz="1250" dirty="0"/>
          </a:p>
        </p:txBody>
      </p:sp>
      <p:sp>
        <p:nvSpPr>
          <p:cNvPr id="16" name="Shape 14"/>
          <p:cNvSpPr/>
          <p:nvPr/>
        </p:nvSpPr>
        <p:spPr>
          <a:xfrm>
            <a:off x="548640" y="3577133"/>
            <a:ext cx="457200" cy="579730"/>
          </a:xfrm>
          <a:prstGeom prst="roundRect">
            <a:avLst>
              <a:gd name="adj" fmla="val 12000"/>
            </a:avLst>
          </a:prstGeom>
          <a:solidFill>
            <a:srgbClr val="00A8CC"/>
          </a:solidFill>
          <a:ln/>
        </p:spPr>
      </p:sp>
      <p:sp>
        <p:nvSpPr>
          <p:cNvPr id="17" name="Text 15"/>
          <p:cNvSpPr/>
          <p:nvPr/>
        </p:nvSpPr>
        <p:spPr>
          <a:xfrm>
            <a:off x="548640" y="3577133"/>
            <a:ext cx="457200" cy="579730"/>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4</a:t>
            </a:r>
            <a:endParaRPr lang="en-US" sz="1500" dirty="0"/>
          </a:p>
        </p:txBody>
      </p:sp>
      <p:sp>
        <p:nvSpPr>
          <p:cNvPr id="18" name="Shape 16"/>
          <p:cNvSpPr/>
          <p:nvPr/>
        </p:nvSpPr>
        <p:spPr>
          <a:xfrm>
            <a:off x="1143000" y="3577133"/>
            <a:ext cx="7452360" cy="579730"/>
          </a:xfrm>
          <a:prstGeom prst="roundRect">
            <a:avLst>
              <a:gd name="adj" fmla="val 7886"/>
            </a:avLst>
          </a:prstGeom>
          <a:solidFill>
            <a:srgbClr val="FFFFFF"/>
          </a:solidFill>
          <a:ln w="12700">
            <a:solidFill>
              <a:srgbClr val="DCE3E8"/>
            </a:solidFill>
            <a:prstDash val="solid"/>
          </a:ln>
        </p:spPr>
      </p:sp>
      <p:sp>
        <p:nvSpPr>
          <p:cNvPr id="19" name="Text 17"/>
          <p:cNvSpPr/>
          <p:nvPr/>
        </p:nvSpPr>
        <p:spPr>
          <a:xfrm>
            <a:off x="1371600" y="3577133"/>
            <a:ext cx="6949440" cy="579730"/>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Query occupancy.db directly and inspect a signals row's aggregate first_seen/last_seen/total_sightings</a:t>
            </a:r>
            <a:endParaRPr lang="en-US" sz="1250" dirty="0"/>
          </a:p>
        </p:txBody>
      </p:sp>
      <p:sp>
        <p:nvSpPr>
          <p:cNvPr id="20" name="Shape 18"/>
          <p:cNvSpPr/>
          <p:nvPr/>
        </p:nvSpPr>
        <p:spPr>
          <a:xfrm>
            <a:off x="548640" y="4266590"/>
            <a:ext cx="457200" cy="579730"/>
          </a:xfrm>
          <a:prstGeom prst="roundRect">
            <a:avLst>
              <a:gd name="adj" fmla="val 12000"/>
            </a:avLst>
          </a:prstGeom>
          <a:solidFill>
            <a:srgbClr val="00A8CC"/>
          </a:solidFill>
          <a:ln/>
        </p:spPr>
      </p:sp>
      <p:sp>
        <p:nvSpPr>
          <p:cNvPr id="21" name="Text 19"/>
          <p:cNvSpPr/>
          <p:nvPr/>
        </p:nvSpPr>
        <p:spPr>
          <a:xfrm>
            <a:off x="548640" y="4266590"/>
            <a:ext cx="457200" cy="579730"/>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5</a:t>
            </a:r>
            <a:endParaRPr lang="en-US" sz="1500" dirty="0"/>
          </a:p>
        </p:txBody>
      </p:sp>
      <p:sp>
        <p:nvSpPr>
          <p:cNvPr id="22" name="Shape 20"/>
          <p:cNvSpPr/>
          <p:nvPr/>
        </p:nvSpPr>
        <p:spPr>
          <a:xfrm>
            <a:off x="1143000" y="4266590"/>
            <a:ext cx="7452360" cy="579730"/>
          </a:xfrm>
          <a:prstGeom prst="roundRect">
            <a:avLst>
              <a:gd name="adj" fmla="val 7886"/>
            </a:avLst>
          </a:prstGeom>
          <a:solidFill>
            <a:srgbClr val="FFFFFF"/>
          </a:solidFill>
          <a:ln w="12700">
            <a:solidFill>
              <a:srgbClr val="DCE3E8"/>
            </a:solidFill>
            <a:prstDash val="solid"/>
          </a:ln>
        </p:spPr>
      </p:sp>
      <p:sp>
        <p:nvSpPr>
          <p:cNvPr id="23" name="Text 21"/>
          <p:cNvSpPr/>
          <p:nvPr/>
        </p:nvSpPr>
        <p:spPr>
          <a:xfrm>
            <a:off x="1371600" y="4266590"/>
            <a:ext cx="6949440" cy="579730"/>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Install the occupancy native tool in Open WebUI (see docs/openwebui-setup-guide.md) and ask the local LLM a natural-language question — e.g. 'Call query_occupancy near 10 MHz' — closing the capture-&gt;DB-&gt;AI loop</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548640" y="365760"/>
            <a:ext cx="2377440" cy="457200"/>
          </a:xfrm>
          <a:prstGeom prst="roundRect">
            <a:avLst>
              <a:gd name="adj" fmla="val 50000"/>
            </a:avLst>
          </a:prstGeom>
          <a:solidFill>
            <a:srgbClr val="F4A300"/>
          </a:solidFill>
          <a:ln/>
        </p:spPr>
      </p:sp>
      <p:sp>
        <p:nvSpPr>
          <p:cNvPr id="3" name="Text 1"/>
          <p:cNvSpPr/>
          <p:nvPr/>
        </p:nvSpPr>
        <p:spPr>
          <a:xfrm>
            <a:off x="548640" y="365760"/>
            <a:ext cx="2377440" cy="457200"/>
          </a:xfrm>
          <a:prstGeom prst="rect">
            <a:avLst/>
          </a:prstGeom>
          <a:noFill/>
          <a:ln/>
        </p:spPr>
        <p:txBody>
          <a:bodyPr wrap="square" lIns="0" tIns="0" rIns="0" bIns="0" rtlCol="0" anchor="ctr"/>
          <a:lstStyle/>
          <a:p>
            <a:pPr algn="ctr" indent="0" marL="0">
              <a:buNone/>
            </a:pPr>
            <a:r>
              <a:rPr lang="en-US" sz="1300" b="1" spc="100" kern="0" dirty="0">
                <a:solidFill>
                  <a:srgbClr val="0B1929"/>
                </a:solidFill>
                <a:latin typeface="Calibri" pitchFamily="34" charset="0"/>
                <a:ea typeface="Calibri" pitchFamily="34" charset="-122"/>
                <a:cs typeface="Calibri" pitchFamily="34" charset="-120"/>
              </a:rPr>
              <a:t>REAL-WORLD BUG</a:t>
            </a:r>
            <a:endParaRPr lang="en-US" sz="1300" dirty="0"/>
          </a:p>
        </p:txBody>
      </p:sp>
      <p:sp>
        <p:nvSpPr>
          <p:cNvPr id="4" name="Text 2"/>
          <p:cNvSpPr/>
          <p:nvPr/>
        </p:nvSpPr>
        <p:spPr>
          <a:xfrm>
            <a:off x="548640" y="960120"/>
            <a:ext cx="8046720"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Real Lessons: Calibration Is Where the Truth Lives</a:t>
            </a:r>
            <a:endParaRPr lang="en-US" sz="2400" dirty="0"/>
          </a:p>
        </p:txBody>
      </p:sp>
      <p:sp>
        <p:nvSpPr>
          <p:cNvPr id="5" name="Shape 3"/>
          <p:cNvSpPr/>
          <p:nvPr/>
        </p:nvSpPr>
        <p:spPr>
          <a:xfrm>
            <a:off x="548640" y="1828800"/>
            <a:ext cx="8046720" cy="3063240"/>
          </a:xfrm>
          <a:prstGeom prst="roundRect">
            <a:avLst>
              <a:gd name="adj" fmla="val 2388"/>
            </a:avLst>
          </a:prstGeom>
          <a:solidFill>
            <a:srgbClr val="13273D"/>
          </a:solidFill>
          <a:ln/>
        </p:spPr>
      </p:sp>
      <p:sp>
        <p:nvSpPr>
          <p:cNvPr id="6" name="Text 4"/>
          <p:cNvSpPr/>
          <p:nvPr/>
        </p:nvSpPr>
        <p:spPr>
          <a:xfrm>
            <a:off x="868680" y="2057400"/>
            <a:ext cx="7406640" cy="2651760"/>
          </a:xfrm>
          <a:prstGeom prst="rect">
            <a:avLst/>
          </a:prstGeom>
          <a:noFill/>
          <a:ln/>
        </p:spPr>
        <p:txBody>
          <a:bodyPr wrap="square" lIns="0" tIns="0" rIns="0" bIns="0" rtlCol="0" anchor="t"/>
          <a:lstStyle/>
          <a:p>
            <a:pPr indent="0" marL="0">
              <a:lnSpc>
                <a:spcPct val="125000"/>
              </a:lnSpc>
              <a:buNone/>
            </a:pPr>
            <a:r>
              <a:rPr lang="en-US" sz="1350" dirty="0">
                <a:solidFill>
                  <a:srgbClr val="F7F9FA"/>
                </a:solidFill>
                <a:latin typeface="Calibri" pitchFamily="34" charset="0"/>
                <a:ea typeface="Calibri" pitchFamily="34" charset="-122"/>
                <a:cs typeface="Calibri" pitchFamily="34" charset="-120"/>
              </a:rPr>
              <a:t>Calibrating three different devices taught the same discipline from several angles. First, suspiciously identical readings across two very different bands were the diagnostic clue that something other than real noise was being measured — traced to a continuous carrier being read as if it were background, and separately to an antenna inadequate for the frequency; the fix for the latter was a proper resonant antenna (a 2m/70cm vertical), NOT code. Second, the two SDRs discriminate at OPPOSITE gain extremes: the HackRF's power readout clamps near -30 dBFS below high gain (so it only separates signal from floor at LNA 40+), while the RTL-SDR compresses at high gain and works best at MINIMUM gain — a single 'sensible' gain guess would have been wrong for one of them. Third, a single reference sample misleads: the RTL-SDR's first sweep looked alarmingly busy until three sweeps revealed the true floor and one genuine transmission standing well above it. The through-line: don't trust a calibration number because the tool ran without error — sanity-check against physical expectation, calibrate per device against its own floor, and take multiple samples before believing any of them.</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BEFORE MOVING 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Exit Criteria</a:t>
            </a:r>
            <a:endParaRPr lang="en-US" sz="2800" dirty="0"/>
          </a:p>
        </p:txBody>
      </p:sp>
      <p:sp>
        <p:nvSpPr>
          <p:cNvPr id="4" name="Shape 2"/>
          <p:cNvSpPr/>
          <p:nvPr/>
        </p:nvSpPr>
        <p:spPr>
          <a:xfrm>
            <a:off x="548640" y="155448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5" name="Shape 3"/>
          <p:cNvSpPr/>
          <p:nvPr/>
        </p:nvSpPr>
        <p:spPr>
          <a:xfrm>
            <a:off x="777240" y="1914144"/>
            <a:ext cx="256032" cy="256032"/>
          </a:xfrm>
          <a:prstGeom prst="ellipse">
            <a:avLst/>
          </a:prstGeom>
          <a:solidFill>
            <a:srgbClr val="00A8CC"/>
          </a:solidFill>
          <a:ln/>
        </p:spPr>
      </p:sp>
      <p:sp>
        <p:nvSpPr>
          <p:cNvPr id="6" name="Text 4"/>
          <p:cNvSpPr/>
          <p:nvPr/>
        </p:nvSpPr>
        <p:spPr>
          <a:xfrm>
            <a:off x="1234440" y="155448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Occupancy DB schema applies cleanly and passes its functional test suite</a:t>
            </a:r>
            <a:endParaRPr lang="en-US" sz="1450" dirty="0"/>
          </a:p>
        </p:txBody>
      </p:sp>
      <p:sp>
        <p:nvSpPr>
          <p:cNvPr id="7" name="Shape 5"/>
          <p:cNvSpPr/>
          <p:nvPr/>
        </p:nvSpPr>
        <p:spPr>
          <a:xfrm>
            <a:off x="548640" y="271272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8" name="Shape 6"/>
          <p:cNvSpPr/>
          <p:nvPr/>
        </p:nvSpPr>
        <p:spPr>
          <a:xfrm>
            <a:off x="777240" y="3072384"/>
            <a:ext cx="256032" cy="256032"/>
          </a:xfrm>
          <a:prstGeom prst="ellipse">
            <a:avLst/>
          </a:prstGeom>
          <a:solidFill>
            <a:srgbClr val="00A8CC"/>
          </a:solidFill>
          <a:ln/>
        </p:spPr>
      </p:sp>
      <p:sp>
        <p:nvSpPr>
          <p:cNvPr id="9" name="Text 7"/>
          <p:cNvSpPr/>
          <p:nvPr/>
        </p:nvSpPr>
        <p:spPr>
          <a:xfrm>
            <a:off x="1234440" y="271272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The radiod producer is confirmed populating the DB continuously; the VHF/UHF key-freq producer runs on-demand and shows a sane quiet/ACTIVE split against its calibrated per-device threshold</a:t>
            </a:r>
            <a:endParaRPr lang="en-US" sz="1450" dirty="0"/>
          </a:p>
        </p:txBody>
      </p:sp>
      <p:sp>
        <p:nvSpPr>
          <p:cNvPr id="10" name="Shape 8"/>
          <p:cNvSpPr/>
          <p:nvPr/>
        </p:nvSpPr>
        <p:spPr>
          <a:xfrm>
            <a:off x="548640" y="387096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11" name="Shape 9"/>
          <p:cNvSpPr/>
          <p:nvPr/>
        </p:nvSpPr>
        <p:spPr>
          <a:xfrm>
            <a:off x="777240" y="4230624"/>
            <a:ext cx="256032" cy="256032"/>
          </a:xfrm>
          <a:prstGeom prst="ellipse">
            <a:avLst/>
          </a:prstGeom>
          <a:solidFill>
            <a:srgbClr val="00A8CC"/>
          </a:solidFill>
          <a:ln/>
        </p:spPr>
      </p:sp>
      <p:sp>
        <p:nvSpPr>
          <p:cNvPr id="12" name="Text 10"/>
          <p:cNvSpPr/>
          <p:nvPr/>
        </p:nvSpPr>
        <p:spPr>
          <a:xfrm>
            <a:off x="1234440" y="387096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The occupancy native tool answers a natural-language question from real DB data in Open WebUI — the capture-&gt;DB-&gt;AI loop is closed end to end</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GROUP DISCUSSION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Discussion Questions</a:t>
            </a:r>
            <a:endParaRPr lang="en-US" sz="2800" dirty="0"/>
          </a:p>
        </p:txBody>
      </p:sp>
      <p:sp>
        <p:nvSpPr>
          <p:cNvPr id="4" name="Text 2"/>
          <p:cNvSpPr/>
          <p:nvPr/>
        </p:nvSpPr>
        <p:spPr>
          <a:xfrm>
            <a:off x="548640" y="160020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Q1</a:t>
            </a:r>
            <a:endParaRPr lang="en-US" sz="2200" dirty="0"/>
          </a:p>
        </p:txBody>
      </p:sp>
      <p:sp>
        <p:nvSpPr>
          <p:cNvPr id="5" name="Shape 3"/>
          <p:cNvSpPr/>
          <p:nvPr/>
        </p:nvSpPr>
        <p:spPr>
          <a:xfrm>
            <a:off x="1280160" y="160020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6" name="Text 4"/>
          <p:cNvSpPr/>
          <p:nvPr/>
        </p:nvSpPr>
        <p:spPr>
          <a:xfrm>
            <a:off x="1508760" y="160020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Why doesn't a fixed-size frequency bin work equally well for a 125kHz LoRa channel and a 20MHz WiFi channel?</a:t>
            </a:r>
            <a:endParaRPr lang="en-US" sz="1400" dirty="0"/>
          </a:p>
        </p:txBody>
      </p:sp>
      <p:sp>
        <p:nvSpPr>
          <p:cNvPr id="7" name="Text 5"/>
          <p:cNvSpPr/>
          <p:nvPr/>
        </p:nvSpPr>
        <p:spPr>
          <a:xfrm>
            <a:off x="548640" y="275844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Q2</a:t>
            </a:r>
            <a:endParaRPr lang="en-US" sz="2200" dirty="0"/>
          </a:p>
        </p:txBody>
      </p:sp>
      <p:sp>
        <p:nvSpPr>
          <p:cNvPr id="8" name="Shape 6"/>
          <p:cNvSpPr/>
          <p:nvPr/>
        </p:nvSpPr>
        <p:spPr>
          <a:xfrm>
            <a:off x="1280160" y="275844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9" name="Text 7"/>
          <p:cNvSpPr/>
          <p:nvPr/>
        </p:nvSpPr>
        <p:spPr>
          <a:xfrm>
            <a:off x="1508760" y="275844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What real-world antenna or RF-path problem would produce two suspiciously identical noise-floor readings at very different frequencies?</a:t>
            </a:r>
            <a:endParaRPr lang="en-US" sz="1400" dirty="0"/>
          </a:p>
        </p:txBody>
      </p:sp>
      <p:sp>
        <p:nvSpPr>
          <p:cNvPr id="10" name="Text 8"/>
          <p:cNvSpPr/>
          <p:nvPr/>
        </p:nvSpPr>
        <p:spPr>
          <a:xfrm>
            <a:off x="548640" y="391668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Q3</a:t>
            </a:r>
            <a:endParaRPr lang="en-US" sz="2200" dirty="0"/>
          </a:p>
        </p:txBody>
      </p:sp>
      <p:sp>
        <p:nvSpPr>
          <p:cNvPr id="11" name="Shape 9"/>
          <p:cNvSpPr/>
          <p:nvPr/>
        </p:nvSpPr>
        <p:spPr>
          <a:xfrm>
            <a:off x="1280160" y="391668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12" name="Text 10"/>
          <p:cNvSpPr/>
          <p:nvPr/>
        </p:nvSpPr>
        <p:spPr>
          <a:xfrm>
            <a:off x="1508760" y="391668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If you had to extend this schema to also track signal BANDWIDTH occupancy, not just center frequency, what would you add?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3291840"/>
            <a:ext cx="9144000" cy="457200"/>
          </a:xfrm>
          <a:prstGeom prst="rect">
            <a:avLst/>
          </a:prstGeom>
          <a:solidFill>
            <a:srgbClr val="00A8CC">
              <a:alpha val="14000"/>
            </a:srgbClr>
          </a:solidFill>
          <a:ln/>
        </p:spPr>
      </p:sp>
      <p:sp>
        <p:nvSpPr>
          <p:cNvPr id="3" name="Shape 1"/>
          <p:cNvSpPr/>
          <p:nvPr/>
        </p:nvSpPr>
        <p:spPr>
          <a:xfrm>
            <a:off x="0" y="3794760"/>
            <a:ext cx="9144000" cy="457200"/>
          </a:xfrm>
          <a:prstGeom prst="rect">
            <a:avLst/>
          </a:prstGeom>
          <a:solidFill>
            <a:srgbClr val="00A8CC">
              <a:alpha val="28000"/>
            </a:srgbClr>
          </a:solidFill>
          <a:ln/>
        </p:spPr>
      </p:sp>
      <p:sp>
        <p:nvSpPr>
          <p:cNvPr id="4" name="Shape 2"/>
          <p:cNvSpPr/>
          <p:nvPr/>
        </p:nvSpPr>
        <p:spPr>
          <a:xfrm>
            <a:off x="0" y="4297680"/>
            <a:ext cx="9144000" cy="457200"/>
          </a:xfrm>
          <a:prstGeom prst="rect">
            <a:avLst/>
          </a:prstGeom>
          <a:solidFill>
            <a:srgbClr val="00A8CC">
              <a:alpha val="45000"/>
            </a:srgbClr>
          </a:solidFill>
          <a:ln/>
        </p:spPr>
      </p:sp>
      <p:sp>
        <p:nvSpPr>
          <p:cNvPr id="5" name="Shape 3"/>
          <p:cNvSpPr/>
          <p:nvPr/>
        </p:nvSpPr>
        <p:spPr>
          <a:xfrm>
            <a:off x="0" y="4800600"/>
            <a:ext cx="9144000" cy="457200"/>
          </a:xfrm>
          <a:prstGeom prst="rect">
            <a:avLst/>
          </a:prstGeom>
          <a:solidFill>
            <a:srgbClr val="00A8CC">
              <a:alpha val="65000"/>
            </a:srgbClr>
          </a:solidFill>
          <a:ln/>
        </p:spPr>
      </p:sp>
      <p:sp>
        <p:nvSpPr>
          <p:cNvPr id="6" name="Text 4"/>
          <p:cNvSpPr/>
          <p:nvPr/>
        </p:nvSpPr>
        <p:spPr>
          <a:xfrm>
            <a:off x="548640" y="640080"/>
            <a:ext cx="8046720" cy="365760"/>
          </a:xfrm>
          <a:prstGeom prst="rect">
            <a:avLst/>
          </a:prstGeom>
          <a:noFill/>
          <a:ln/>
        </p:spPr>
        <p:txBody>
          <a:bodyPr wrap="square" lIns="0" tIns="0" rIns="0" bIns="0" rtlCol="0" anchor="ctr"/>
          <a:lstStyle/>
          <a:p>
            <a:pPr indent="0" marL="0">
              <a:buNone/>
            </a:pPr>
            <a:r>
              <a:rPr lang="en-US" sz="1400" b="1" spc="200" kern="0" dirty="0">
                <a:solidFill>
                  <a:srgbClr val="F4A300"/>
                </a:solidFill>
                <a:latin typeface="Calibri" pitchFamily="34" charset="0"/>
                <a:ea typeface="Calibri" pitchFamily="34" charset="-122"/>
                <a:cs typeface="Calibri" pitchFamily="34" charset="-120"/>
              </a:rPr>
              <a:t>NEXT SESSION</a:t>
            </a:r>
            <a:endParaRPr lang="en-US" sz="1400" dirty="0"/>
          </a:p>
        </p:txBody>
      </p:sp>
      <p:sp>
        <p:nvSpPr>
          <p:cNvPr id="7" name="Text 5"/>
          <p:cNvSpPr/>
          <p:nvPr/>
        </p:nvSpPr>
        <p:spPr>
          <a:xfrm>
            <a:off x="548640" y="1051560"/>
            <a:ext cx="8046720" cy="1828800"/>
          </a:xfrm>
          <a:prstGeom prst="rect">
            <a:avLst/>
          </a:prstGeom>
          <a:noFill/>
          <a:ln/>
        </p:spPr>
        <p:txBody>
          <a:bodyPr wrap="square" lIns="0" tIns="0" rIns="0" bIns="0" rtlCol="0" anchor="ctr"/>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Final Lab — Use Cases of Sovereign SIGINT: putting the whole stack to work, and previewing the final project.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6.6 — Occupancy Database</dc:title>
  <dc:subject>PptxGenJS Presentation</dc:subject>
  <dc:creator>Sovereign SIGINT Course</dc:creator>
  <cp:lastModifiedBy>Sovereign SIGINT Course</cp:lastModifiedBy>
  <cp:revision>1</cp:revision>
  <dcterms:created xsi:type="dcterms:W3CDTF">2026-07-22T07:08:30Z</dcterms:created>
  <dcterms:modified xsi:type="dcterms:W3CDTF">2026-07-22T07:08:30Z</dcterms:modified>
</cp:coreProperties>
</file>