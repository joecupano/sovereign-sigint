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00A8CC">
              <a:alpha val="85000"/>
            </a:srgbClr>
          </a:solidFill>
          <a:ln/>
        </p:spPr>
      </p:sp>
      <p:sp>
        <p:nvSpPr>
          <p:cNvPr id="3" name="Shape 1"/>
          <p:cNvSpPr/>
          <p:nvPr/>
        </p:nvSpPr>
        <p:spPr>
          <a:xfrm>
            <a:off x="0" y="502920"/>
            <a:ext cx="9144000" cy="457200"/>
          </a:xfrm>
          <a:prstGeom prst="rect">
            <a:avLst/>
          </a:prstGeom>
          <a:solidFill>
            <a:srgbClr val="00A8CC">
              <a:alpha val="65000"/>
            </a:srgbClr>
          </a:solidFill>
          <a:ln/>
        </p:spPr>
      </p:sp>
      <p:sp>
        <p:nvSpPr>
          <p:cNvPr id="4" name="Shape 2"/>
          <p:cNvSpPr/>
          <p:nvPr/>
        </p:nvSpPr>
        <p:spPr>
          <a:xfrm>
            <a:off x="0" y="1005840"/>
            <a:ext cx="9144000" cy="457200"/>
          </a:xfrm>
          <a:prstGeom prst="rect">
            <a:avLst/>
          </a:prstGeom>
          <a:solidFill>
            <a:srgbClr val="00A8CC">
              <a:alpha val="45000"/>
            </a:srgbClr>
          </a:solidFill>
          <a:ln/>
        </p:spPr>
      </p:sp>
      <p:sp>
        <p:nvSpPr>
          <p:cNvPr id="5" name="Shape 3"/>
          <p:cNvSpPr/>
          <p:nvPr/>
        </p:nvSpPr>
        <p:spPr>
          <a:xfrm>
            <a:off x="0" y="1508760"/>
            <a:ext cx="9144000" cy="457200"/>
          </a:xfrm>
          <a:prstGeom prst="rect">
            <a:avLst/>
          </a:prstGeom>
          <a:solidFill>
            <a:srgbClr val="00A8CC">
              <a:alpha val="28000"/>
            </a:srgbClr>
          </a:solidFill>
          <a:ln/>
        </p:spPr>
      </p:sp>
      <p:sp>
        <p:nvSpPr>
          <p:cNvPr id="6" name="Shape 4"/>
          <p:cNvSpPr/>
          <p:nvPr/>
        </p:nvSpPr>
        <p:spPr>
          <a:xfrm>
            <a:off x="0" y="2011680"/>
            <a:ext cx="9144000" cy="457200"/>
          </a:xfrm>
          <a:prstGeom prst="rect">
            <a:avLst/>
          </a:prstGeom>
          <a:solidFill>
            <a:srgbClr val="00A8CC">
              <a:alpha val="14000"/>
            </a:srgbClr>
          </a:solidFill>
          <a:ln/>
        </p:spPr>
      </p:sp>
      <p:sp>
        <p:nvSpPr>
          <p:cNvPr id="7" name="Text 5"/>
          <p:cNvSpPr/>
          <p:nvPr/>
        </p:nvSpPr>
        <p:spPr>
          <a:xfrm>
            <a:off x="548640" y="2331720"/>
            <a:ext cx="8046720" cy="457200"/>
          </a:xfrm>
          <a:prstGeom prst="rect">
            <a:avLst/>
          </a:prstGeom>
          <a:noFill/>
          <a:ln/>
        </p:spPr>
        <p:txBody>
          <a:bodyPr wrap="square" lIns="0" tIns="0" rIns="0" bIns="0" rtlCol="0" anchor="ctr"/>
          <a:lstStyle/>
          <a:p>
            <a:pPr indent="0" marL="0">
              <a:buNone/>
            </a:pPr>
            <a:r>
              <a:rPr lang="en-US" sz="1600" b="1" spc="300" kern="0" dirty="0">
                <a:solidFill>
                  <a:srgbClr val="F4A300"/>
                </a:solidFill>
                <a:latin typeface="Calibri" pitchFamily="34" charset="0"/>
                <a:ea typeface="Calibri" pitchFamily="34" charset="-122"/>
                <a:cs typeface="Calibri" pitchFamily="34" charset="-120"/>
              </a:rPr>
              <a:t>LAB 10</a:t>
            </a:r>
            <a:endParaRPr lang="en-US" sz="1600" dirty="0"/>
          </a:p>
        </p:txBody>
      </p:sp>
      <p:sp>
        <p:nvSpPr>
          <p:cNvPr id="8" name="Text 6"/>
          <p:cNvSpPr/>
          <p:nvPr/>
        </p:nvSpPr>
        <p:spPr>
          <a:xfrm>
            <a:off x="548640" y="2743200"/>
            <a:ext cx="8046720" cy="118872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Phase 6.5 — SigMF Writer</a:t>
            </a:r>
            <a:endParaRPr lang="en-US" sz="4000" dirty="0"/>
          </a:p>
        </p:txBody>
      </p:sp>
      <p:sp>
        <p:nvSpPr>
          <p:cNvPr id="9" name="Text 7"/>
          <p:cNvSpPr/>
          <p:nvPr/>
        </p:nvSpPr>
        <p:spPr>
          <a:xfrm>
            <a:off x="548640" y="3840480"/>
            <a:ext cx="8046720" cy="640080"/>
          </a:xfrm>
          <a:prstGeom prst="rect">
            <a:avLst/>
          </a:prstGeom>
          <a:noFill/>
          <a:ln/>
        </p:spPr>
        <p:txBody>
          <a:bodyPr wrap="square" lIns="0" tIns="0" rIns="0" bIns="0" rtlCol="0" anchor="ctr"/>
          <a:lstStyle/>
          <a:p>
            <a:pPr indent="0" marL="0">
              <a:buNone/>
            </a:pPr>
            <a:r>
              <a:rPr lang="en-US" sz="1800" i="1" dirty="0">
                <a:solidFill>
                  <a:srgbClr val="00A8CC"/>
                </a:solidFill>
                <a:latin typeface="Calibri" pitchFamily="34" charset="0"/>
                <a:ea typeface="Calibri" pitchFamily="34" charset="-122"/>
                <a:cs typeface="Calibri" pitchFamily="34" charset="-120"/>
              </a:rPr>
              <a:t>Exporting raw IQ captures to an open, interoperable format</a:t>
            </a:r>
            <a:endParaRPr lang="en-US" sz="1800" dirty="0"/>
          </a:p>
        </p:txBody>
      </p:sp>
      <p:sp>
        <p:nvSpPr>
          <p:cNvPr id="10" name="Text 8"/>
          <p:cNvSpPr/>
          <p:nvPr/>
        </p:nvSpPr>
        <p:spPr>
          <a:xfrm>
            <a:off x="548640" y="4709160"/>
            <a:ext cx="8046720" cy="320040"/>
          </a:xfrm>
          <a:prstGeom prst="rect">
            <a:avLst/>
          </a:prstGeom>
          <a:noFill/>
          <a:ln/>
        </p:spPr>
        <p:txBody>
          <a:bodyPr wrap="square" lIns="0" tIns="0" rIns="0" bIns="0" rtlCol="0" anchor="ctr"/>
          <a:lstStyle/>
          <a:p>
            <a:pPr indent="0" marL="0">
              <a:buNone/>
            </a:pPr>
            <a:r>
              <a:rPr lang="en-US" sz="1100" dirty="0">
                <a:solidFill>
                  <a:srgbClr val="5C7080"/>
                </a:solidFill>
                <a:latin typeface="Calibri" pitchFamily="34" charset="0"/>
                <a:ea typeface="Calibri" pitchFamily="34" charset="-122"/>
                <a:cs typeface="Calibri" pitchFamily="34" charset="-120"/>
              </a:rPr>
              <a:t>Sovereign SIGINT — College Lab Series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SESSION OVERVIEW</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Learning Objectives</a:t>
            </a:r>
            <a:endParaRPr lang="en-US" sz="2800" dirty="0"/>
          </a:p>
        </p:txBody>
      </p:sp>
      <p:sp>
        <p:nvSpPr>
          <p:cNvPr id="4" name="Shape 2"/>
          <p:cNvSpPr/>
          <p:nvPr/>
        </p:nvSpPr>
        <p:spPr>
          <a:xfrm>
            <a:off x="548640" y="1844802"/>
            <a:ext cx="402336" cy="402336"/>
          </a:xfrm>
          <a:prstGeom prst="ellipse">
            <a:avLst/>
          </a:prstGeom>
          <a:solidFill>
            <a:srgbClr val="0B1929"/>
          </a:solidFill>
          <a:ln/>
        </p:spPr>
      </p:sp>
      <p:sp>
        <p:nvSpPr>
          <p:cNvPr id="5" name="Text 3"/>
          <p:cNvSpPr/>
          <p:nvPr/>
        </p:nvSpPr>
        <p:spPr>
          <a:xfrm>
            <a:off x="548640" y="1844802"/>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1</a:t>
            </a:r>
            <a:endParaRPr lang="en-US" sz="1600" dirty="0"/>
          </a:p>
        </p:txBody>
      </p:sp>
      <p:sp>
        <p:nvSpPr>
          <p:cNvPr id="6" name="Shape 4"/>
          <p:cNvSpPr/>
          <p:nvPr/>
        </p:nvSpPr>
        <p:spPr>
          <a:xfrm>
            <a:off x="1143000" y="1554480"/>
            <a:ext cx="7452360" cy="982980"/>
          </a:xfrm>
          <a:prstGeom prst="roundRect">
            <a:avLst>
              <a:gd name="adj" fmla="val 5581"/>
            </a:avLst>
          </a:prstGeom>
          <a:solidFill>
            <a:srgbClr val="FFFFFF"/>
          </a:solidFill>
          <a:ln/>
          <a:effectLst>
            <a:outerShdw sx="100000" sy="100000" kx="0" ky="0" algn="bl" rotWithShape="0" blurRad="63500" dist="25400" dir="5400000">
              <a:srgbClr val="000000">
                <a:alpha val="8000"/>
              </a:srgbClr>
            </a:outerShdw>
          </a:effectLst>
        </p:spPr>
      </p:sp>
      <p:sp>
        <p:nvSpPr>
          <p:cNvPr id="7" name="Text 5"/>
          <p:cNvSpPr/>
          <p:nvPr/>
        </p:nvSpPr>
        <p:spPr>
          <a:xfrm>
            <a:off x="1371600" y="1554480"/>
            <a:ext cx="6949440" cy="982980"/>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Understand the SigMF standard for signal metadata and IQ recordings</a:t>
            </a:r>
            <a:endParaRPr lang="en-US" sz="1500" dirty="0"/>
          </a:p>
        </p:txBody>
      </p:sp>
      <p:sp>
        <p:nvSpPr>
          <p:cNvPr id="8" name="Shape 6"/>
          <p:cNvSpPr/>
          <p:nvPr/>
        </p:nvSpPr>
        <p:spPr>
          <a:xfrm>
            <a:off x="548640" y="2964942"/>
            <a:ext cx="402336" cy="402336"/>
          </a:xfrm>
          <a:prstGeom prst="ellipse">
            <a:avLst/>
          </a:prstGeom>
          <a:solidFill>
            <a:srgbClr val="0B1929"/>
          </a:solidFill>
          <a:ln/>
        </p:spPr>
      </p:sp>
      <p:sp>
        <p:nvSpPr>
          <p:cNvPr id="9" name="Text 7"/>
          <p:cNvSpPr/>
          <p:nvPr/>
        </p:nvSpPr>
        <p:spPr>
          <a:xfrm>
            <a:off x="548640" y="2964942"/>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2</a:t>
            </a:r>
            <a:endParaRPr lang="en-US" sz="1600" dirty="0"/>
          </a:p>
        </p:txBody>
      </p:sp>
      <p:sp>
        <p:nvSpPr>
          <p:cNvPr id="10" name="Shape 8"/>
          <p:cNvSpPr/>
          <p:nvPr/>
        </p:nvSpPr>
        <p:spPr>
          <a:xfrm>
            <a:off x="1143000" y="2674620"/>
            <a:ext cx="7452360" cy="982980"/>
          </a:xfrm>
          <a:prstGeom prst="roundRect">
            <a:avLst>
              <a:gd name="adj" fmla="val 5581"/>
            </a:avLst>
          </a:prstGeom>
          <a:solidFill>
            <a:srgbClr val="FFFFFF"/>
          </a:solidFill>
          <a:ln/>
          <a:effectLst>
            <a:outerShdw sx="100000" sy="100000" kx="0" ky="0" algn="bl" rotWithShape="0" blurRad="63500" dist="25400" dir="5400000">
              <a:srgbClr val="000000">
                <a:alpha val="8000"/>
              </a:srgbClr>
            </a:outerShdw>
          </a:effectLst>
        </p:spPr>
      </p:sp>
      <p:sp>
        <p:nvSpPr>
          <p:cNvPr id="11" name="Text 9"/>
          <p:cNvSpPr/>
          <p:nvPr/>
        </p:nvSpPr>
        <p:spPr>
          <a:xfrm>
            <a:off x="1371600" y="2674620"/>
            <a:ext cx="6949440" cy="982980"/>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Write raw IQ captures from RX-888, RTL-SDR, and HackRF into SigMF format correctly</a:t>
            </a:r>
            <a:endParaRPr lang="en-US" sz="1500" dirty="0"/>
          </a:p>
        </p:txBody>
      </p:sp>
      <p:sp>
        <p:nvSpPr>
          <p:cNvPr id="12" name="Shape 10"/>
          <p:cNvSpPr/>
          <p:nvPr/>
        </p:nvSpPr>
        <p:spPr>
          <a:xfrm>
            <a:off x="548640" y="4085082"/>
            <a:ext cx="402336" cy="402336"/>
          </a:xfrm>
          <a:prstGeom prst="ellipse">
            <a:avLst/>
          </a:prstGeom>
          <a:solidFill>
            <a:srgbClr val="0B1929"/>
          </a:solidFill>
          <a:ln/>
        </p:spPr>
      </p:sp>
      <p:sp>
        <p:nvSpPr>
          <p:cNvPr id="13" name="Text 11"/>
          <p:cNvSpPr/>
          <p:nvPr/>
        </p:nvSpPr>
        <p:spPr>
          <a:xfrm>
            <a:off x="548640" y="4085082"/>
            <a:ext cx="402336" cy="402336"/>
          </a:xfrm>
          <a:prstGeom prst="rect">
            <a:avLst/>
          </a:prstGeom>
          <a:noFill/>
          <a:ln/>
        </p:spPr>
        <p:txBody>
          <a:bodyPr wrap="square" lIns="0" tIns="0" rIns="0" bIns="0" rtlCol="0" anchor="ctr"/>
          <a:lstStyle/>
          <a:p>
            <a:pPr algn="ctr" indent="0" marL="0">
              <a:buNone/>
            </a:pPr>
            <a:r>
              <a:rPr lang="en-US" sz="1600" b="1" dirty="0">
                <a:solidFill>
                  <a:srgbClr val="F4A300"/>
                </a:solidFill>
                <a:latin typeface="Calibri" pitchFamily="34" charset="0"/>
                <a:ea typeface="Calibri" pitchFamily="34" charset="-122"/>
                <a:cs typeface="Calibri" pitchFamily="34" charset="-120"/>
              </a:rPr>
              <a:t>3</a:t>
            </a:r>
            <a:endParaRPr lang="en-US" sz="1600" dirty="0"/>
          </a:p>
        </p:txBody>
      </p:sp>
      <p:sp>
        <p:nvSpPr>
          <p:cNvPr id="14" name="Shape 12"/>
          <p:cNvSpPr/>
          <p:nvPr/>
        </p:nvSpPr>
        <p:spPr>
          <a:xfrm>
            <a:off x="1143000" y="3794760"/>
            <a:ext cx="7452360" cy="982980"/>
          </a:xfrm>
          <a:prstGeom prst="roundRect">
            <a:avLst>
              <a:gd name="adj" fmla="val 5581"/>
            </a:avLst>
          </a:prstGeom>
          <a:solidFill>
            <a:srgbClr val="FFFFFF"/>
          </a:solidFill>
          <a:ln/>
          <a:effectLst>
            <a:outerShdw sx="100000" sy="100000" kx="0" ky="0" algn="bl" rotWithShape="0" blurRad="63500" dist="25400" dir="5400000">
              <a:srgbClr val="000000">
                <a:alpha val="8000"/>
              </a:srgbClr>
            </a:outerShdw>
          </a:effectLst>
        </p:spPr>
      </p:sp>
      <p:sp>
        <p:nvSpPr>
          <p:cNvPr id="15" name="Text 13"/>
          <p:cNvSpPr/>
          <p:nvPr/>
        </p:nvSpPr>
        <p:spPr>
          <a:xfrm>
            <a:off x="1371600" y="3794760"/>
            <a:ext cx="6949440" cy="982980"/>
          </a:xfrm>
          <a:prstGeom prst="rect">
            <a:avLst/>
          </a:prstGeom>
          <a:noFill/>
          <a:ln/>
        </p:spPr>
        <p:txBody>
          <a:bodyPr wrap="square" lIns="0" tIns="0" rIns="0" bIns="0" rtlCol="0" anchor="ctr"/>
          <a:lstStyle/>
          <a:p>
            <a:pPr indent="0" marL="0">
              <a:buNone/>
            </a:pPr>
            <a:r>
              <a:rPr lang="en-US" sz="1500" dirty="0">
                <a:solidFill>
                  <a:srgbClr val="1A2733"/>
                </a:solidFill>
                <a:latin typeface="Calibri" pitchFamily="34" charset="0"/>
                <a:ea typeface="Calibri" pitchFamily="34" charset="-122"/>
                <a:cs typeface="Calibri" pitchFamily="34" charset="-120"/>
              </a:rPr>
              <a:t>Confirm correctness via real hardware captures, not just synthetic test data</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CONCEPT</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What SigMF Is, and Why It Matters</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An open, community standard for describing recorded RF signal data — a metadata JSON file paired with a raw binary IQ data file</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Interoperable with external tools (IQEngine, GNU Radio's own SigMF blocks) — signal captures made in this project can be analyzed elsewhere without a custom format</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This is the layer that closes a real gap identified earlier: NEITHER radiod NOR OpenWebRX+ can export raw IQ — only decoded/demodulated output. This writer is the only path to a raw, reprocessable capture in this whole build</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SYSTEM DESIGN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Three Different Native Hardware Formats</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RX-888 (rx888_stream): 16-bit signed IQ (ci16_le)</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RTL-SDR (rtl_sdr): unsigned 8-bit IQ (cu8), offset-binary, centered at 127.5 not 128</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HackRF (hackrf_transfer): signed 8-bit IQ (ci8)</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Each format needs DIFFERENT normalization math before it's a valid SigMF recording — getting the offset wrong introduces a DC-offset artifact, not an obvious crash</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DESIGN RATIONALE</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Key Design Decisions</a:t>
            </a:r>
            <a:endParaRPr lang="en-US" sz="2800" dirty="0"/>
          </a:p>
        </p:txBody>
      </p:sp>
      <p:sp>
        <p:nvSpPr>
          <p:cNvPr id="4" name="Text 2"/>
          <p:cNvSpPr/>
          <p:nvPr/>
        </p:nvSpPr>
        <p:spPr>
          <a:xfrm>
            <a:off x="640080" y="1600200"/>
            <a:ext cx="7863840" cy="3291840"/>
          </a:xfrm>
          <a:prstGeom prst="rect">
            <a:avLst/>
          </a:prstGeom>
          <a:noFill/>
          <a:ln/>
        </p:spPr>
        <p:txBody>
          <a:bodyPr wrap="square" rtlCol="0" anchor="t"/>
          <a:lstStyle/>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A single capture-to-sigmf.sh utility wraps the device-specific capture tool AND the SigMF writer into one command, auto-selecting the correct input format per device</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All three formats convert to complex64 internally — a real, acknowledged tradeoff (up to 8x file-size increase for the 8-bit formats) versus preserving native bit depth</a:t>
            </a:r>
            <a:endParaRPr lang="en-US" sz="1500" dirty="0"/>
          </a:p>
          <a:p>
            <a:pPr marL="342900" indent="-342900">
              <a:lnSpc>
                <a:spcPct val="115000"/>
              </a:lnSpc>
              <a:spcAft>
                <a:spcPts val="1400"/>
              </a:spcAft>
              <a:buSzPct val="100000"/>
              <a:buChar char="▪"/>
            </a:pPr>
            <a:r>
              <a:rPr lang="en-US" sz="1500" dirty="0">
                <a:solidFill>
                  <a:srgbClr val="1A2733"/>
                </a:solidFill>
                <a:latin typeface="Calibri" pitchFamily="34" charset="0"/>
                <a:ea typeface="Calibri" pitchFamily="34" charset="-122"/>
                <a:cs typeface="Calibri" pitchFamily="34" charset="-120"/>
              </a:rPr>
              <a:t>An extra_capture_metadata hook exists in the writer specifically so a future SigID match or occupancy-DB record can be embedded directly in a capture's metadata</a:t>
            </a:r>
            <a:endParaRPr lang="en-US" sz="1500" dirty="0"/>
          </a:p>
        </p:txBody>
      </p:sp>
      <p:sp>
        <p:nvSpPr>
          <p:cNvPr id="5" name="Shape 3"/>
          <p:cNvSpPr/>
          <p:nvPr/>
        </p:nvSpPr>
        <p:spPr>
          <a:xfrm>
            <a:off x="0" y="4892040"/>
            <a:ext cx="9144000" cy="251460"/>
          </a:xfrm>
          <a:prstGeom prst="rect">
            <a:avLst/>
          </a:prstGeom>
          <a:solidFill>
            <a:srgbClr val="0B1929"/>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HANDS-ON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Hands-On Lab</a:t>
            </a:r>
            <a:endParaRPr lang="en-US" sz="2800" dirty="0"/>
          </a:p>
        </p:txBody>
      </p:sp>
      <p:sp>
        <p:nvSpPr>
          <p:cNvPr id="4" name="Shape 2"/>
          <p:cNvSpPr/>
          <p:nvPr/>
        </p:nvSpPr>
        <p:spPr>
          <a:xfrm>
            <a:off x="548640" y="1508760"/>
            <a:ext cx="457200" cy="752094"/>
          </a:xfrm>
          <a:prstGeom prst="roundRect">
            <a:avLst>
              <a:gd name="adj" fmla="val 12000"/>
            </a:avLst>
          </a:prstGeom>
          <a:solidFill>
            <a:srgbClr val="00A8CC"/>
          </a:solidFill>
          <a:ln/>
        </p:spPr>
      </p:sp>
      <p:sp>
        <p:nvSpPr>
          <p:cNvPr id="5" name="Text 3"/>
          <p:cNvSpPr/>
          <p:nvPr/>
        </p:nvSpPr>
        <p:spPr>
          <a:xfrm>
            <a:off x="548640" y="1508760"/>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1</a:t>
            </a:r>
            <a:endParaRPr lang="en-US" sz="1500" dirty="0"/>
          </a:p>
        </p:txBody>
      </p:sp>
      <p:sp>
        <p:nvSpPr>
          <p:cNvPr id="6" name="Shape 4"/>
          <p:cNvSpPr/>
          <p:nvPr/>
        </p:nvSpPr>
        <p:spPr>
          <a:xfrm>
            <a:off x="1143000" y="1508760"/>
            <a:ext cx="7452360" cy="752094"/>
          </a:xfrm>
          <a:prstGeom prst="roundRect">
            <a:avLst>
              <a:gd name="adj" fmla="val 6079"/>
            </a:avLst>
          </a:prstGeom>
          <a:solidFill>
            <a:srgbClr val="FFFFFF"/>
          </a:solidFill>
          <a:ln w="12700">
            <a:solidFill>
              <a:srgbClr val="DCE3E8"/>
            </a:solidFill>
            <a:prstDash val="solid"/>
          </a:ln>
        </p:spPr>
      </p:sp>
      <p:sp>
        <p:nvSpPr>
          <p:cNvPr id="7" name="Text 5"/>
          <p:cNvSpPr/>
          <p:nvPr/>
        </p:nvSpPr>
        <p:spPr>
          <a:xfrm>
            <a:off x="1371600" y="1508760"/>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./scripts/phase6-sigmf-writer.sh (venv setup, no sudo)</a:t>
            </a:r>
            <a:endParaRPr lang="en-US" sz="1250" dirty="0"/>
          </a:p>
        </p:txBody>
      </p:sp>
      <p:sp>
        <p:nvSpPr>
          <p:cNvPr id="8" name="Shape 6"/>
          <p:cNvSpPr/>
          <p:nvPr/>
        </p:nvSpPr>
        <p:spPr>
          <a:xfrm>
            <a:off x="548640" y="2370582"/>
            <a:ext cx="457200" cy="752094"/>
          </a:xfrm>
          <a:prstGeom prst="roundRect">
            <a:avLst>
              <a:gd name="adj" fmla="val 12000"/>
            </a:avLst>
          </a:prstGeom>
          <a:solidFill>
            <a:srgbClr val="00A8CC"/>
          </a:solidFill>
          <a:ln/>
        </p:spPr>
      </p:sp>
      <p:sp>
        <p:nvSpPr>
          <p:cNvPr id="9" name="Text 7"/>
          <p:cNvSpPr/>
          <p:nvPr/>
        </p:nvSpPr>
        <p:spPr>
          <a:xfrm>
            <a:off x="548640" y="2370582"/>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2</a:t>
            </a:r>
            <a:endParaRPr lang="en-US" sz="1500" dirty="0"/>
          </a:p>
        </p:txBody>
      </p:sp>
      <p:sp>
        <p:nvSpPr>
          <p:cNvPr id="10" name="Shape 8"/>
          <p:cNvSpPr/>
          <p:nvPr/>
        </p:nvSpPr>
        <p:spPr>
          <a:xfrm>
            <a:off x="1143000" y="2370582"/>
            <a:ext cx="7452360" cy="752094"/>
          </a:xfrm>
          <a:prstGeom prst="roundRect">
            <a:avLst>
              <a:gd name="adj" fmla="val 6079"/>
            </a:avLst>
          </a:prstGeom>
          <a:solidFill>
            <a:srgbClr val="FFFFFF"/>
          </a:solidFill>
          <a:ln w="12700">
            <a:solidFill>
              <a:srgbClr val="DCE3E8"/>
            </a:solidFill>
            <a:prstDash val="solid"/>
          </a:ln>
        </p:spPr>
      </p:sp>
      <p:sp>
        <p:nvSpPr>
          <p:cNvPr id="11" name="Text 9"/>
          <p:cNvSpPr/>
          <p:nvPr/>
        </p:nvSpPr>
        <p:spPr>
          <a:xfrm>
            <a:off x="1371600" y="2370582"/>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./scripts/phase6-sigmf-writer-validate.sh — round-trips synthetic data through all three formats</a:t>
            </a:r>
            <a:endParaRPr lang="en-US" sz="1250" dirty="0"/>
          </a:p>
        </p:txBody>
      </p:sp>
      <p:sp>
        <p:nvSpPr>
          <p:cNvPr id="12" name="Shape 10"/>
          <p:cNvSpPr/>
          <p:nvPr/>
        </p:nvSpPr>
        <p:spPr>
          <a:xfrm>
            <a:off x="548640" y="3232404"/>
            <a:ext cx="457200" cy="752094"/>
          </a:xfrm>
          <a:prstGeom prst="roundRect">
            <a:avLst>
              <a:gd name="adj" fmla="val 12000"/>
            </a:avLst>
          </a:prstGeom>
          <a:solidFill>
            <a:srgbClr val="00A8CC"/>
          </a:solidFill>
          <a:ln/>
        </p:spPr>
      </p:sp>
      <p:sp>
        <p:nvSpPr>
          <p:cNvPr id="13" name="Text 11"/>
          <p:cNvSpPr/>
          <p:nvPr/>
        </p:nvSpPr>
        <p:spPr>
          <a:xfrm>
            <a:off x="548640" y="3232404"/>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3</a:t>
            </a:r>
            <a:endParaRPr lang="en-US" sz="1500" dirty="0"/>
          </a:p>
        </p:txBody>
      </p:sp>
      <p:sp>
        <p:nvSpPr>
          <p:cNvPr id="14" name="Shape 12"/>
          <p:cNvSpPr/>
          <p:nvPr/>
        </p:nvSpPr>
        <p:spPr>
          <a:xfrm>
            <a:off x="1143000" y="3232404"/>
            <a:ext cx="7452360" cy="752094"/>
          </a:xfrm>
          <a:prstGeom prst="roundRect">
            <a:avLst>
              <a:gd name="adj" fmla="val 6079"/>
            </a:avLst>
          </a:prstGeom>
          <a:solidFill>
            <a:srgbClr val="FFFFFF"/>
          </a:solidFill>
          <a:ln w="12700">
            <a:solidFill>
              <a:srgbClr val="DCE3E8"/>
            </a:solidFill>
            <a:prstDash val="solid"/>
          </a:ln>
        </p:spPr>
      </p:sp>
      <p:sp>
        <p:nvSpPr>
          <p:cNvPr id="15" name="Text 13"/>
          <p:cNvSpPr/>
          <p:nvPr/>
        </p:nvSpPr>
        <p:spPr>
          <a:xfrm>
            <a:off x="1371600" y="3232404"/>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./scripts/capture-to-sigmf.sh --device rtlsdr --freq &lt;a known frequency&gt; --sample-rate 2048000 --duration 5 --output-name my_test</a:t>
            </a:r>
            <a:endParaRPr lang="en-US" sz="1250" dirty="0"/>
          </a:p>
        </p:txBody>
      </p:sp>
      <p:sp>
        <p:nvSpPr>
          <p:cNvPr id="16" name="Shape 14"/>
          <p:cNvSpPr/>
          <p:nvPr/>
        </p:nvSpPr>
        <p:spPr>
          <a:xfrm>
            <a:off x="548640" y="4094226"/>
            <a:ext cx="457200" cy="752094"/>
          </a:xfrm>
          <a:prstGeom prst="roundRect">
            <a:avLst>
              <a:gd name="adj" fmla="val 12000"/>
            </a:avLst>
          </a:prstGeom>
          <a:solidFill>
            <a:srgbClr val="00A8CC"/>
          </a:solidFill>
          <a:ln/>
        </p:spPr>
      </p:sp>
      <p:sp>
        <p:nvSpPr>
          <p:cNvPr id="17" name="Text 15"/>
          <p:cNvSpPr/>
          <p:nvPr/>
        </p:nvSpPr>
        <p:spPr>
          <a:xfrm>
            <a:off x="548640" y="4094226"/>
            <a:ext cx="457200" cy="752094"/>
          </a:xfrm>
          <a:prstGeom prst="rect">
            <a:avLst/>
          </a:prstGeom>
          <a:noFill/>
          <a:ln/>
        </p:spPr>
        <p:txBody>
          <a:bodyPr wrap="square" lIns="0" tIns="0" rIns="0" bIns="0" rtlCol="0" anchor="ctr"/>
          <a:lstStyle/>
          <a:p>
            <a:pPr algn="ctr" indent="0" marL="0">
              <a:buNone/>
            </a:pPr>
            <a:r>
              <a:rPr lang="en-US" sz="1500" b="1" dirty="0">
                <a:solidFill>
                  <a:srgbClr val="0B1929"/>
                </a:solidFill>
                <a:latin typeface="Calibri" pitchFamily="34" charset="0"/>
                <a:ea typeface="Calibri" pitchFamily="34" charset="-122"/>
                <a:cs typeface="Calibri" pitchFamily="34" charset="-120"/>
              </a:rPr>
              <a:t>4</a:t>
            </a:r>
            <a:endParaRPr lang="en-US" sz="1500" dirty="0"/>
          </a:p>
        </p:txBody>
      </p:sp>
      <p:sp>
        <p:nvSpPr>
          <p:cNvPr id="18" name="Shape 16"/>
          <p:cNvSpPr/>
          <p:nvPr/>
        </p:nvSpPr>
        <p:spPr>
          <a:xfrm>
            <a:off x="1143000" y="4094226"/>
            <a:ext cx="7452360" cy="752094"/>
          </a:xfrm>
          <a:prstGeom prst="roundRect">
            <a:avLst>
              <a:gd name="adj" fmla="val 6079"/>
            </a:avLst>
          </a:prstGeom>
          <a:solidFill>
            <a:srgbClr val="FFFFFF"/>
          </a:solidFill>
          <a:ln w="12700">
            <a:solidFill>
              <a:srgbClr val="DCE3E8"/>
            </a:solidFill>
            <a:prstDash val="solid"/>
          </a:ln>
        </p:spPr>
      </p:sp>
      <p:sp>
        <p:nvSpPr>
          <p:cNvPr id="19" name="Text 17"/>
          <p:cNvSpPr/>
          <p:nvPr/>
        </p:nvSpPr>
        <p:spPr>
          <a:xfrm>
            <a:off x="1371600" y="4094226"/>
            <a:ext cx="6949440" cy="752094"/>
          </a:xfrm>
          <a:prstGeom prst="rect">
            <a:avLst/>
          </a:prstGeom>
          <a:noFill/>
          <a:ln/>
        </p:spPr>
        <p:txBody>
          <a:bodyPr wrap="square" lIns="0" tIns="0" rIns="0" bIns="0" rtlCol="0" anchor="ctr"/>
          <a:lstStyle/>
          <a:p>
            <a:pPr indent="0" marL="0">
              <a:buNone/>
            </a:pPr>
            <a:r>
              <a:rPr lang="en-US" sz="1250" dirty="0">
                <a:solidFill>
                  <a:srgbClr val="1A2733"/>
                </a:solidFill>
                <a:latin typeface="Courier New" pitchFamily="34" charset="0"/>
                <a:ea typeface="Courier New" pitchFamily="34" charset="-122"/>
                <a:cs typeface="Courier New" pitchFamily="34" charset="-120"/>
              </a:rPr>
              <a:t>Inspect the resulting .sigmf-meta file: confirm frequency, sample rate, and SHA512 hash are all correct</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548640" y="365760"/>
            <a:ext cx="2377440" cy="457200"/>
          </a:xfrm>
          <a:prstGeom prst="roundRect">
            <a:avLst>
              <a:gd name="adj" fmla="val 50000"/>
            </a:avLst>
          </a:prstGeom>
          <a:solidFill>
            <a:srgbClr val="F4A300"/>
          </a:solidFill>
          <a:ln/>
        </p:spPr>
      </p:sp>
      <p:sp>
        <p:nvSpPr>
          <p:cNvPr id="3" name="Text 1"/>
          <p:cNvSpPr/>
          <p:nvPr/>
        </p:nvSpPr>
        <p:spPr>
          <a:xfrm>
            <a:off x="548640" y="365760"/>
            <a:ext cx="2377440" cy="457200"/>
          </a:xfrm>
          <a:prstGeom prst="rect">
            <a:avLst/>
          </a:prstGeom>
          <a:noFill/>
          <a:ln/>
        </p:spPr>
        <p:txBody>
          <a:bodyPr wrap="square" lIns="0" tIns="0" rIns="0" bIns="0" rtlCol="0" anchor="ctr"/>
          <a:lstStyle/>
          <a:p>
            <a:pPr algn="ctr" indent="0" marL="0">
              <a:buNone/>
            </a:pPr>
            <a:r>
              <a:rPr lang="en-US" sz="1300" b="1" spc="100" kern="0" dirty="0">
                <a:solidFill>
                  <a:srgbClr val="0B1929"/>
                </a:solidFill>
                <a:latin typeface="Calibri" pitchFamily="34" charset="0"/>
                <a:ea typeface="Calibri" pitchFamily="34" charset="-122"/>
                <a:cs typeface="Calibri" pitchFamily="34" charset="-120"/>
              </a:rPr>
              <a:t>REAL-WORLD BUG</a:t>
            </a:r>
            <a:endParaRPr lang="en-US" sz="1300" dirty="0"/>
          </a:p>
        </p:txBody>
      </p:sp>
      <p:sp>
        <p:nvSpPr>
          <p:cNvPr id="4" name="Text 2"/>
          <p:cNvSpPr/>
          <p:nvPr/>
        </p:nvSpPr>
        <p:spPr>
          <a:xfrm>
            <a:off x="548640" y="960120"/>
            <a:ext cx="8046720" cy="7772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Catching an Overconfident Claim Before It Shipped</a:t>
            </a:r>
            <a:endParaRPr lang="en-US" sz="2400" dirty="0"/>
          </a:p>
        </p:txBody>
      </p:sp>
      <p:sp>
        <p:nvSpPr>
          <p:cNvPr id="5" name="Shape 3"/>
          <p:cNvSpPr/>
          <p:nvPr/>
        </p:nvSpPr>
        <p:spPr>
          <a:xfrm>
            <a:off x="548640" y="1828800"/>
            <a:ext cx="8046720" cy="3063240"/>
          </a:xfrm>
          <a:prstGeom prst="roundRect">
            <a:avLst>
              <a:gd name="adj" fmla="val 2388"/>
            </a:avLst>
          </a:prstGeom>
          <a:solidFill>
            <a:srgbClr val="13273D"/>
          </a:solidFill>
          <a:ln/>
        </p:spPr>
      </p:sp>
      <p:sp>
        <p:nvSpPr>
          <p:cNvPr id="6" name="Text 4"/>
          <p:cNvSpPr/>
          <p:nvPr/>
        </p:nvSpPr>
        <p:spPr>
          <a:xfrm>
            <a:off x="868680" y="2057400"/>
            <a:ext cx="7406640" cy="2651760"/>
          </a:xfrm>
          <a:prstGeom prst="rect">
            <a:avLst/>
          </a:prstGeom>
          <a:noFill/>
          <a:ln/>
        </p:spPr>
        <p:txBody>
          <a:bodyPr wrap="square" lIns="0" tIns="0" rIns="0" bIns="0" rtlCol="0" anchor="t"/>
          <a:lstStyle/>
          <a:p>
            <a:pPr indent="0" marL="0">
              <a:lnSpc>
                <a:spcPct val="125000"/>
              </a:lnSpc>
              <a:buNone/>
            </a:pPr>
            <a:r>
              <a:rPr lang="en-US" sz="1350" dirty="0">
                <a:solidFill>
                  <a:srgbClr val="F7F9FA"/>
                </a:solidFill>
                <a:latin typeface="Calibri" pitchFamily="34" charset="0"/>
                <a:ea typeface="Calibri" pitchFamily="34" charset="-122"/>
                <a:cs typeface="Calibri" pitchFamily="34" charset="-120"/>
              </a:rPr>
              <a:t>Early in writing this module, the code asserted a specific library method name for setting author/description metadata as if it were confirmed, when it had only been guessed by pattern-matching against similar libraries. That guess was caught and flagged honestly in the code BEFORE ever running against real hardware — a documented 'this is unconfirmed, here's a graceful fallback if it's wrong' comment, rather than a confident but untested claim. When a real hardware capture was finally run, the guess turned out correct — but the discipline of flagging it as unconfirmed until actually tested, rather than presenting confidence that hadn't been earned yet, is the transferable lesson, independent of whether that particular guess happened to be right.</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BEFORE MOVING 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Exit Criteria</a:t>
            </a:r>
            <a:endParaRPr lang="en-US" sz="2800" dirty="0"/>
          </a:p>
        </p:txBody>
      </p:sp>
      <p:sp>
        <p:nvSpPr>
          <p:cNvPr id="4" name="Shape 2"/>
          <p:cNvSpPr/>
          <p:nvPr/>
        </p:nvSpPr>
        <p:spPr>
          <a:xfrm>
            <a:off x="548640" y="155448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5" name="Shape 3"/>
          <p:cNvSpPr/>
          <p:nvPr/>
        </p:nvSpPr>
        <p:spPr>
          <a:xfrm>
            <a:off x="777240" y="1914144"/>
            <a:ext cx="256032" cy="256032"/>
          </a:xfrm>
          <a:prstGeom prst="ellipse">
            <a:avLst/>
          </a:prstGeom>
          <a:solidFill>
            <a:srgbClr val="00A8CC"/>
          </a:solidFill>
          <a:ln/>
        </p:spPr>
      </p:sp>
      <p:sp>
        <p:nvSpPr>
          <p:cNvPr id="6" name="Text 4"/>
          <p:cNvSpPr/>
          <p:nvPr/>
        </p:nvSpPr>
        <p:spPr>
          <a:xfrm>
            <a:off x="1234440" y="155448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Synthetic round-trip tests pass for all three formats (ci16_le, cu8, ci8)</a:t>
            </a:r>
            <a:endParaRPr lang="en-US" sz="1450" dirty="0"/>
          </a:p>
        </p:txBody>
      </p:sp>
      <p:sp>
        <p:nvSpPr>
          <p:cNvPr id="7" name="Shape 5"/>
          <p:cNvSpPr/>
          <p:nvPr/>
        </p:nvSpPr>
        <p:spPr>
          <a:xfrm>
            <a:off x="548640" y="271272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8" name="Shape 6"/>
          <p:cNvSpPr/>
          <p:nvPr/>
        </p:nvSpPr>
        <p:spPr>
          <a:xfrm>
            <a:off x="777240" y="3072384"/>
            <a:ext cx="256032" cy="256032"/>
          </a:xfrm>
          <a:prstGeom prst="ellipse">
            <a:avLst/>
          </a:prstGeom>
          <a:solidFill>
            <a:srgbClr val="00A8CC"/>
          </a:solidFill>
          <a:ln/>
        </p:spPr>
      </p:sp>
      <p:sp>
        <p:nvSpPr>
          <p:cNvPr id="9" name="Text 7"/>
          <p:cNvSpPr/>
          <p:nvPr/>
        </p:nvSpPr>
        <p:spPr>
          <a:xfrm>
            <a:off x="1234440" y="271272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A real hardware capture from at least one device produces a valid SigMF recording</a:t>
            </a:r>
            <a:endParaRPr lang="en-US" sz="1450" dirty="0"/>
          </a:p>
        </p:txBody>
      </p:sp>
      <p:sp>
        <p:nvSpPr>
          <p:cNvPr id="10" name="Shape 8"/>
          <p:cNvSpPr/>
          <p:nvPr/>
        </p:nvSpPr>
        <p:spPr>
          <a:xfrm>
            <a:off x="548640" y="3870960"/>
            <a:ext cx="8046720" cy="975360"/>
          </a:xfrm>
          <a:prstGeom prst="roundRect">
            <a:avLst>
              <a:gd name="adj" fmla="val 5625"/>
            </a:avLst>
          </a:prstGeom>
          <a:solidFill>
            <a:srgbClr val="FFFFFF"/>
          </a:solidFill>
          <a:ln/>
          <a:effectLst>
            <a:outerShdw sx="100000" sy="100000" kx="0" ky="0" algn="bl" rotWithShape="0" blurRad="63500" dist="25400" dir="5400000">
              <a:srgbClr val="000000">
                <a:alpha val="8000"/>
              </a:srgbClr>
            </a:outerShdw>
          </a:effectLst>
        </p:spPr>
      </p:sp>
      <p:sp>
        <p:nvSpPr>
          <p:cNvPr id="11" name="Shape 9"/>
          <p:cNvSpPr/>
          <p:nvPr/>
        </p:nvSpPr>
        <p:spPr>
          <a:xfrm>
            <a:off x="777240" y="4230624"/>
            <a:ext cx="256032" cy="256032"/>
          </a:xfrm>
          <a:prstGeom prst="ellipse">
            <a:avLst/>
          </a:prstGeom>
          <a:solidFill>
            <a:srgbClr val="00A8CC"/>
          </a:solidFill>
          <a:ln/>
        </p:spPr>
      </p:sp>
      <p:sp>
        <p:nvSpPr>
          <p:cNvPr id="12" name="Text 10"/>
          <p:cNvSpPr/>
          <p:nvPr/>
        </p:nvSpPr>
        <p:spPr>
          <a:xfrm>
            <a:off x="1234440" y="3870960"/>
            <a:ext cx="7178040" cy="975360"/>
          </a:xfrm>
          <a:prstGeom prst="rect">
            <a:avLst/>
          </a:prstGeom>
          <a:noFill/>
          <a:ln/>
        </p:spPr>
        <p:txBody>
          <a:bodyPr wrap="square" lIns="0" tIns="0" rIns="0" bIns="0" rtlCol="0" anchor="ctr"/>
          <a:lstStyle/>
          <a:p>
            <a:pPr indent="0" marL="0">
              <a:buNone/>
            </a:pPr>
            <a:r>
              <a:rPr lang="en-US" sz="1450" dirty="0">
                <a:solidFill>
                  <a:srgbClr val="1A2733"/>
                </a:solidFill>
                <a:latin typeface="Calibri" pitchFamily="34" charset="0"/>
                <a:ea typeface="Calibri" pitchFamily="34" charset="-122"/>
                <a:cs typeface="Calibri" pitchFamily="34" charset="-120"/>
              </a:rPr>
              <a:t>The written metadata's SHA512 hash matches an independent verification</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A"/>
        </a:solidFill>
      </p:bgPr>
    </p:bg>
    <p:spTree>
      <p:nvGrpSpPr>
        <p:cNvPr id="1" name=""/>
        <p:cNvGrpSpPr/>
        <p:nvPr/>
      </p:nvGrpSpPr>
      <p:grpSpPr>
        <a:xfrm>
          <a:off x="0" y="0"/>
          <a:ext cx="0" cy="0"/>
          <a:chOff x="0" y="0"/>
          <a:chExt cx="0" cy="0"/>
        </a:xfrm>
      </p:grpSpPr>
      <p:sp>
        <p:nvSpPr>
          <p:cNvPr id="2" name="Text 0"/>
          <p:cNvSpPr/>
          <p:nvPr/>
        </p:nvSpPr>
        <p:spPr>
          <a:xfrm>
            <a:off x="548640" y="320040"/>
            <a:ext cx="8046720" cy="320040"/>
          </a:xfrm>
          <a:prstGeom prst="rect">
            <a:avLst/>
          </a:prstGeom>
          <a:noFill/>
          <a:ln/>
        </p:spPr>
        <p:txBody>
          <a:bodyPr wrap="square" lIns="0" tIns="0" rIns="0" bIns="0" rtlCol="0" anchor="ctr"/>
          <a:lstStyle/>
          <a:p>
            <a:pPr indent="0" marL="0">
              <a:buNone/>
            </a:pPr>
            <a:r>
              <a:rPr lang="en-US" sz="1300" b="1" spc="200" kern="0" dirty="0">
                <a:solidFill>
                  <a:srgbClr val="00A8CC"/>
                </a:solidFill>
                <a:latin typeface="Calibri" pitchFamily="34" charset="0"/>
                <a:ea typeface="Calibri" pitchFamily="34" charset="-122"/>
                <a:cs typeface="Calibri" pitchFamily="34" charset="-120"/>
              </a:rPr>
              <a:t>GROUP DISCUSSION</a:t>
            </a:r>
            <a:endParaRPr lang="en-US" sz="1300" dirty="0"/>
          </a:p>
        </p:txBody>
      </p:sp>
      <p:sp>
        <p:nvSpPr>
          <p:cNvPr id="3" name="Text 1"/>
          <p:cNvSpPr/>
          <p:nvPr/>
        </p:nvSpPr>
        <p:spPr>
          <a:xfrm>
            <a:off x="548640" y="621792"/>
            <a:ext cx="8046720" cy="640080"/>
          </a:xfrm>
          <a:prstGeom prst="rect">
            <a:avLst/>
          </a:prstGeom>
          <a:noFill/>
          <a:ln/>
        </p:spPr>
        <p:txBody>
          <a:bodyPr wrap="square" lIns="0" tIns="0" rIns="0" bIns="0" rtlCol="0" anchor="ctr"/>
          <a:lstStyle/>
          <a:p>
            <a:pPr indent="0" marL="0">
              <a:buNone/>
            </a:pPr>
            <a:r>
              <a:rPr lang="en-US" sz="2800" b="1" dirty="0">
                <a:solidFill>
                  <a:srgbClr val="0B1929"/>
                </a:solidFill>
                <a:latin typeface="Cambria" pitchFamily="34" charset="0"/>
                <a:ea typeface="Cambria" pitchFamily="34" charset="-122"/>
                <a:cs typeface="Cambria" pitchFamily="34" charset="-120"/>
              </a:rPr>
              <a:t>Discussion Questions</a:t>
            </a:r>
            <a:endParaRPr lang="en-US" sz="2800" dirty="0"/>
          </a:p>
        </p:txBody>
      </p:sp>
      <p:sp>
        <p:nvSpPr>
          <p:cNvPr id="4" name="Text 2"/>
          <p:cNvSpPr/>
          <p:nvPr/>
        </p:nvSpPr>
        <p:spPr>
          <a:xfrm>
            <a:off x="548640" y="160020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Q1</a:t>
            </a:r>
            <a:endParaRPr lang="en-US" sz="2200" dirty="0"/>
          </a:p>
        </p:txBody>
      </p:sp>
      <p:sp>
        <p:nvSpPr>
          <p:cNvPr id="5" name="Shape 3"/>
          <p:cNvSpPr/>
          <p:nvPr/>
        </p:nvSpPr>
        <p:spPr>
          <a:xfrm>
            <a:off x="1280160" y="160020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6" name="Text 4"/>
          <p:cNvSpPr/>
          <p:nvPr/>
        </p:nvSpPr>
        <p:spPr>
          <a:xfrm>
            <a:off x="1508760" y="160020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Why does an open standard like SigMF matter more for a SIGINT tool than a proprietary internal format would?</a:t>
            </a:r>
            <a:endParaRPr lang="en-US" sz="1400" dirty="0"/>
          </a:p>
        </p:txBody>
      </p:sp>
      <p:sp>
        <p:nvSpPr>
          <p:cNvPr id="7" name="Text 5"/>
          <p:cNvSpPr/>
          <p:nvPr/>
        </p:nvSpPr>
        <p:spPr>
          <a:xfrm>
            <a:off x="548640" y="275844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Q2</a:t>
            </a:r>
            <a:endParaRPr lang="en-US" sz="2200" dirty="0"/>
          </a:p>
        </p:txBody>
      </p:sp>
      <p:sp>
        <p:nvSpPr>
          <p:cNvPr id="8" name="Shape 6"/>
          <p:cNvSpPr/>
          <p:nvPr/>
        </p:nvSpPr>
        <p:spPr>
          <a:xfrm>
            <a:off x="1280160" y="275844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9" name="Text 7"/>
          <p:cNvSpPr/>
          <p:nvPr/>
        </p:nvSpPr>
        <p:spPr>
          <a:xfrm>
            <a:off x="1508760" y="275844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What's the practical cost of the 8-bit-to-complex64 conversion, and when would preserving native bit depth actually matter?</a:t>
            </a:r>
            <a:endParaRPr lang="en-US" sz="1400" dirty="0"/>
          </a:p>
        </p:txBody>
      </p:sp>
      <p:sp>
        <p:nvSpPr>
          <p:cNvPr id="10" name="Text 8"/>
          <p:cNvSpPr/>
          <p:nvPr/>
        </p:nvSpPr>
        <p:spPr>
          <a:xfrm>
            <a:off x="548640" y="3916680"/>
            <a:ext cx="640080" cy="929640"/>
          </a:xfrm>
          <a:prstGeom prst="rect">
            <a:avLst/>
          </a:prstGeom>
          <a:noFill/>
          <a:ln/>
        </p:spPr>
        <p:txBody>
          <a:bodyPr wrap="square" lIns="0" tIns="0" rIns="0" bIns="0" rtlCol="0" anchor="ctr"/>
          <a:lstStyle/>
          <a:p>
            <a:pPr indent="0" marL="0">
              <a:buNone/>
            </a:pPr>
            <a:r>
              <a:rPr lang="en-US" sz="2200" b="1" dirty="0">
                <a:solidFill>
                  <a:srgbClr val="F4A300"/>
                </a:solidFill>
                <a:latin typeface="Cambria" pitchFamily="34" charset="0"/>
                <a:ea typeface="Cambria" pitchFamily="34" charset="-122"/>
                <a:cs typeface="Cambria" pitchFamily="34" charset="-120"/>
              </a:rPr>
              <a:t>Q3</a:t>
            </a:r>
            <a:endParaRPr lang="en-US" sz="2200" dirty="0"/>
          </a:p>
        </p:txBody>
      </p:sp>
      <p:sp>
        <p:nvSpPr>
          <p:cNvPr id="11" name="Shape 9"/>
          <p:cNvSpPr/>
          <p:nvPr/>
        </p:nvSpPr>
        <p:spPr>
          <a:xfrm>
            <a:off x="1280160" y="3916680"/>
            <a:ext cx="7315200" cy="929640"/>
          </a:xfrm>
          <a:prstGeom prst="roundRect">
            <a:avLst>
              <a:gd name="adj" fmla="val 5902"/>
            </a:avLst>
          </a:prstGeom>
          <a:solidFill>
            <a:srgbClr val="FFFFFF"/>
          </a:solidFill>
          <a:ln/>
          <a:effectLst>
            <a:outerShdw sx="100000" sy="100000" kx="0" ky="0" algn="bl" rotWithShape="0" blurRad="63500" dist="25400" dir="5400000">
              <a:srgbClr val="000000">
                <a:alpha val="8000"/>
              </a:srgbClr>
            </a:outerShdw>
          </a:effectLst>
        </p:spPr>
      </p:sp>
      <p:sp>
        <p:nvSpPr>
          <p:cNvPr id="12" name="Text 10"/>
          <p:cNvSpPr/>
          <p:nvPr/>
        </p:nvSpPr>
        <p:spPr>
          <a:xfrm>
            <a:off x="1508760" y="3916680"/>
            <a:ext cx="6858000" cy="929640"/>
          </a:xfrm>
          <a:prstGeom prst="rect">
            <a:avLst/>
          </a:prstGeom>
          <a:noFill/>
          <a:ln/>
        </p:spPr>
        <p:txBody>
          <a:bodyPr wrap="square" lIns="0" tIns="0" rIns="0" bIns="0" rtlCol="0" anchor="ctr"/>
          <a:lstStyle/>
          <a:p>
            <a:pPr indent="0" marL="0">
              <a:buNone/>
            </a:pPr>
            <a:r>
              <a:rPr lang="en-US" sz="1400" i="1" dirty="0">
                <a:solidFill>
                  <a:srgbClr val="1A2733"/>
                </a:solidFill>
                <a:latin typeface="Calibri" pitchFamily="34" charset="0"/>
                <a:ea typeface="Calibri" pitchFamily="34" charset="-122"/>
                <a:cs typeface="Calibri" pitchFamily="34" charset="-120"/>
              </a:rPr>
              <a:t>How do you decide when a claim in your own code is 'confirmed' versus 'a reasonable guess that hasn't been tested yet'?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929"/>
        </a:solidFill>
      </p:bgPr>
    </p:bg>
    <p:spTree>
      <p:nvGrpSpPr>
        <p:cNvPr id="1" name=""/>
        <p:cNvGrpSpPr/>
        <p:nvPr/>
      </p:nvGrpSpPr>
      <p:grpSpPr>
        <a:xfrm>
          <a:off x="0" y="0"/>
          <a:ext cx="0" cy="0"/>
          <a:chOff x="0" y="0"/>
          <a:chExt cx="0" cy="0"/>
        </a:xfrm>
      </p:grpSpPr>
      <p:sp>
        <p:nvSpPr>
          <p:cNvPr id="2" name="Shape 0"/>
          <p:cNvSpPr/>
          <p:nvPr/>
        </p:nvSpPr>
        <p:spPr>
          <a:xfrm>
            <a:off x="0" y="3291840"/>
            <a:ext cx="9144000" cy="457200"/>
          </a:xfrm>
          <a:prstGeom prst="rect">
            <a:avLst/>
          </a:prstGeom>
          <a:solidFill>
            <a:srgbClr val="00A8CC">
              <a:alpha val="14000"/>
            </a:srgbClr>
          </a:solidFill>
          <a:ln/>
        </p:spPr>
      </p:sp>
      <p:sp>
        <p:nvSpPr>
          <p:cNvPr id="3" name="Shape 1"/>
          <p:cNvSpPr/>
          <p:nvPr/>
        </p:nvSpPr>
        <p:spPr>
          <a:xfrm>
            <a:off x="0" y="3794760"/>
            <a:ext cx="9144000" cy="457200"/>
          </a:xfrm>
          <a:prstGeom prst="rect">
            <a:avLst/>
          </a:prstGeom>
          <a:solidFill>
            <a:srgbClr val="00A8CC">
              <a:alpha val="28000"/>
            </a:srgbClr>
          </a:solidFill>
          <a:ln/>
        </p:spPr>
      </p:sp>
      <p:sp>
        <p:nvSpPr>
          <p:cNvPr id="4" name="Shape 2"/>
          <p:cNvSpPr/>
          <p:nvPr/>
        </p:nvSpPr>
        <p:spPr>
          <a:xfrm>
            <a:off x="0" y="4297680"/>
            <a:ext cx="9144000" cy="457200"/>
          </a:xfrm>
          <a:prstGeom prst="rect">
            <a:avLst/>
          </a:prstGeom>
          <a:solidFill>
            <a:srgbClr val="00A8CC">
              <a:alpha val="45000"/>
            </a:srgbClr>
          </a:solidFill>
          <a:ln/>
        </p:spPr>
      </p:sp>
      <p:sp>
        <p:nvSpPr>
          <p:cNvPr id="5" name="Shape 3"/>
          <p:cNvSpPr/>
          <p:nvPr/>
        </p:nvSpPr>
        <p:spPr>
          <a:xfrm>
            <a:off x="0" y="4800600"/>
            <a:ext cx="9144000" cy="457200"/>
          </a:xfrm>
          <a:prstGeom prst="rect">
            <a:avLst/>
          </a:prstGeom>
          <a:solidFill>
            <a:srgbClr val="00A8CC">
              <a:alpha val="65000"/>
            </a:srgbClr>
          </a:solidFill>
          <a:ln/>
        </p:spPr>
      </p:sp>
      <p:sp>
        <p:nvSpPr>
          <p:cNvPr id="6" name="Text 4"/>
          <p:cNvSpPr/>
          <p:nvPr/>
        </p:nvSpPr>
        <p:spPr>
          <a:xfrm>
            <a:off x="548640" y="640080"/>
            <a:ext cx="8046720" cy="365760"/>
          </a:xfrm>
          <a:prstGeom prst="rect">
            <a:avLst/>
          </a:prstGeom>
          <a:noFill/>
          <a:ln/>
        </p:spPr>
        <p:txBody>
          <a:bodyPr wrap="square" lIns="0" tIns="0" rIns="0" bIns="0" rtlCol="0" anchor="ctr"/>
          <a:lstStyle/>
          <a:p>
            <a:pPr indent="0" marL="0">
              <a:buNone/>
            </a:pPr>
            <a:r>
              <a:rPr lang="en-US" sz="1400" b="1" spc="200" kern="0" dirty="0">
                <a:solidFill>
                  <a:srgbClr val="F4A300"/>
                </a:solidFill>
                <a:latin typeface="Calibri" pitchFamily="34" charset="0"/>
                <a:ea typeface="Calibri" pitchFamily="34" charset="-122"/>
                <a:cs typeface="Calibri" pitchFamily="34" charset="-120"/>
              </a:rPr>
              <a:t>NEXT SESSION</a:t>
            </a:r>
            <a:endParaRPr lang="en-US" sz="1400" dirty="0"/>
          </a:p>
        </p:txBody>
      </p:sp>
      <p:sp>
        <p:nvSpPr>
          <p:cNvPr id="7" name="Text 5"/>
          <p:cNvSpPr/>
          <p:nvPr/>
        </p:nvSpPr>
        <p:spPr>
          <a:xfrm>
            <a:off x="548640" y="1051560"/>
            <a:ext cx="8046720" cy="1828800"/>
          </a:xfrm>
          <a:prstGeom prst="rect">
            <a:avLst/>
          </a:prstGeom>
          <a:noFill/>
          <a:ln/>
        </p:spPr>
        <p:txBody>
          <a:bodyPr wrap="square" lIns="0" tIns="0" rIns="0" bIns="0" rtlCol="0" anchor="ctr"/>
          <a:lstStyle/>
          <a:p>
            <a:pPr indent="0" marL="0">
              <a:lnSpc>
                <a:spcPct val="120000"/>
              </a:lnSpc>
              <a:buNone/>
            </a:pPr>
            <a:r>
              <a:rPr lang="en-US" sz="2200" b="1" dirty="0">
                <a:solidFill>
                  <a:srgbClr val="FFFFFF"/>
                </a:solidFill>
                <a:latin typeface="Cambria" pitchFamily="34" charset="0"/>
                <a:ea typeface="Cambria" pitchFamily="34" charset="-122"/>
                <a:cs typeface="Cambria" pitchFamily="34" charset="-120"/>
              </a:rPr>
              <a:t>Phase 6.6 — Occupancy Database: a Kismet-inspired schema, and turning raw signal energy into structured data an LLM can query.</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Phase 6.5 — SigMF Writer</dc:title>
  <dc:subject>PptxGenJS Presentation</dc:subject>
  <dc:creator>Sovereign SIGINT Course</dc:creator>
  <cp:lastModifiedBy>Sovereign SIGINT Course</cp:lastModifiedBy>
  <cp:revision>1</cp:revision>
  <dcterms:created xsi:type="dcterms:W3CDTF">2026-07-22T07:08:30Z</dcterms:created>
  <dcterms:modified xsi:type="dcterms:W3CDTF">2026-07-22T07:08:30Z</dcterms:modified>
</cp:coreProperties>
</file>